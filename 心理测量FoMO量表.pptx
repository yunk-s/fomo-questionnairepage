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1" r:id="rId5"/>
    <p:sldId id="263" r:id="rId6"/>
    <p:sldId id="265" r:id="rId7"/>
    <p:sldId id="267" r:id="rId8"/>
    <p:sldId id="268" r:id="rId9"/>
    <p:sldId id="269"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2" userDrawn="1">
          <p15:clr>
            <a:srgbClr val="A4A3A4"/>
          </p15:clr>
        </p15:guide>
        <p15:guide id="2" pos="2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9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9" autoAdjust="0"/>
    <p:restoredTop sz="95775" autoAdjust="0"/>
  </p:normalViewPr>
  <p:slideViewPr>
    <p:cSldViewPr showGuides="1">
      <p:cViewPr varScale="1">
        <p:scale>
          <a:sx n="73" d="100"/>
          <a:sy n="73" d="100"/>
        </p:scale>
        <p:origin x="680" y="208"/>
      </p:cViewPr>
      <p:guideLst>
        <p:guide orient="horz" pos="2232"/>
        <p:guide pos="283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31038;&#20132;&#24656;&#24807;FoMO&#37327;&#34920;.docx" TargetMode="External"/><Relationship Id="rId2" Type="http://schemas.openxmlformats.org/officeDocument/2006/relationships/image" Target="../media/image10.sv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sp>
        <p:nvSpPr>
          <p:cNvPr id="3" name="TextBox 3"/>
          <p:cNvSpPr txBox="1"/>
          <p:nvPr/>
        </p:nvSpPr>
        <p:spPr>
          <a:xfrm>
            <a:off x="531285" y="686020"/>
            <a:ext cx="17225429" cy="1617345"/>
          </a:xfrm>
          <a:prstGeom prst="rect">
            <a:avLst/>
          </a:prstGeom>
        </p:spPr>
        <p:txBody>
          <a:bodyPr lIns="0" tIns="0" rIns="0" bIns="0" rtlCol="0" anchor="t">
            <a:spAutoFit/>
          </a:bodyPr>
          <a:lstStyle/>
          <a:p>
            <a:pPr algn="ctr">
              <a:lnSpc>
                <a:spcPts val="12615"/>
              </a:lnSpc>
            </a:pPr>
            <a:r>
              <a:rPr lang="zh-CN" altLang="en-US" sz="14020" b="1" spc="-1121" dirty="0">
                <a:solidFill>
                  <a:srgbClr val="EF4434"/>
                </a:solidFill>
                <a:latin typeface="Aileron Bold" panose="00000800000000000000"/>
                <a:ea typeface="宋体" panose="02010600030101010101" pitchFamily="2" charset="-122"/>
                <a:cs typeface="Aileron Bold" panose="00000800000000000000"/>
                <a:sym typeface="Aileron Bold" panose="00000800000000000000"/>
              </a:rPr>
              <a:t>社交恐惧</a:t>
            </a:r>
            <a:r>
              <a:rPr lang="en-US" altLang="zh-CN" sz="14020" b="1" spc="-1121" dirty="0">
                <a:solidFill>
                  <a:srgbClr val="EF4434"/>
                </a:solidFill>
                <a:latin typeface="Aileron Bold" panose="00000800000000000000"/>
                <a:ea typeface="宋体" panose="02010600030101010101" pitchFamily="2" charset="-122"/>
                <a:cs typeface="Aileron Bold" panose="00000800000000000000"/>
                <a:sym typeface="Aileron Bold" panose="00000800000000000000"/>
              </a:rPr>
              <a:t>FoMO</a:t>
            </a:r>
            <a:r>
              <a:rPr lang="zh-CN" altLang="en-US" sz="14020" b="1" spc="-1121" dirty="0">
                <a:solidFill>
                  <a:srgbClr val="EF4434"/>
                </a:solidFill>
                <a:latin typeface="Aileron Bold" panose="00000800000000000000"/>
                <a:ea typeface="宋体" panose="02010600030101010101" pitchFamily="2" charset="-122"/>
                <a:cs typeface="Aileron Bold" panose="00000800000000000000"/>
                <a:sym typeface="Aileron Bold" panose="00000800000000000000"/>
              </a:rPr>
              <a:t>量表</a:t>
            </a:r>
            <a:endParaRPr lang="zh-CN" altLang="en-US" sz="14020" b="1" spc="-1121" dirty="0">
              <a:solidFill>
                <a:srgbClr val="EF4434"/>
              </a:solidFill>
              <a:latin typeface="Aileron Bold" panose="00000800000000000000"/>
              <a:ea typeface="宋体" panose="02010600030101010101" pitchFamily="2" charset="-122"/>
              <a:cs typeface="Aileron Bold" panose="00000800000000000000"/>
              <a:sym typeface="Aileron Bold" panose="00000800000000000000"/>
            </a:endParaRPr>
          </a:p>
        </p:txBody>
      </p:sp>
      <p:grpSp>
        <p:nvGrpSpPr>
          <p:cNvPr id="4" name="Group 4"/>
          <p:cNvGrpSpPr/>
          <p:nvPr/>
        </p:nvGrpSpPr>
        <p:grpSpPr>
          <a:xfrm>
            <a:off x="3239248" y="7224997"/>
            <a:ext cx="11826080" cy="904197"/>
            <a:chOff x="0" y="0"/>
            <a:chExt cx="3199068" cy="244594"/>
          </a:xfrm>
        </p:grpSpPr>
        <p:sp>
          <p:nvSpPr>
            <p:cNvPr id="5" name="Freeform 5"/>
            <p:cNvSpPr/>
            <p:nvPr/>
          </p:nvSpPr>
          <p:spPr>
            <a:xfrm>
              <a:off x="0" y="0"/>
              <a:ext cx="3199068" cy="244594"/>
            </a:xfrm>
            <a:custGeom>
              <a:avLst/>
              <a:gdLst/>
              <a:ahLst/>
              <a:cxnLst/>
              <a:rect l="l" t="t" r="r" b="b"/>
              <a:pathLst>
                <a:path w="3199068" h="244594">
                  <a:moveTo>
                    <a:pt x="1599534" y="0"/>
                  </a:moveTo>
                  <a:cubicBezTo>
                    <a:pt x="716136" y="0"/>
                    <a:pt x="0" y="54754"/>
                    <a:pt x="0" y="122297"/>
                  </a:cubicBezTo>
                  <a:cubicBezTo>
                    <a:pt x="0" y="189840"/>
                    <a:pt x="716136" y="244594"/>
                    <a:pt x="1599534" y="244594"/>
                  </a:cubicBezTo>
                  <a:cubicBezTo>
                    <a:pt x="2482932" y="244594"/>
                    <a:pt x="3199068" y="189840"/>
                    <a:pt x="3199068" y="122297"/>
                  </a:cubicBezTo>
                  <a:cubicBezTo>
                    <a:pt x="3199068" y="54754"/>
                    <a:pt x="2482932" y="0"/>
                    <a:pt x="1599534" y="0"/>
                  </a:cubicBezTo>
                  <a:close/>
                </a:path>
              </a:pathLst>
            </a:custGeom>
            <a:solidFill>
              <a:srgbClr val="F26843"/>
            </a:solidFill>
          </p:spPr>
          <p:txBody>
            <a:bodyPr/>
            <a:lstStyle/>
            <a:p>
              <a:endParaRPr lang="zh-CN" altLang="en-US"/>
            </a:p>
          </p:txBody>
        </p:sp>
        <p:sp>
          <p:nvSpPr>
            <p:cNvPr id="6" name="TextBox 6"/>
            <p:cNvSpPr txBox="1"/>
            <p:nvPr/>
          </p:nvSpPr>
          <p:spPr>
            <a:xfrm>
              <a:off x="299913" y="-24694"/>
              <a:ext cx="2599243" cy="246358"/>
            </a:xfrm>
            <a:prstGeom prst="rect">
              <a:avLst/>
            </a:prstGeom>
          </p:spPr>
          <p:txBody>
            <a:bodyPr lIns="50800" tIns="50800" rIns="50800" bIns="50800" rtlCol="0" anchor="ctr"/>
            <a:lstStyle/>
            <a:p>
              <a:pPr algn="ctr">
                <a:lnSpc>
                  <a:spcPts val="3360"/>
                </a:lnSpc>
              </a:pPr>
            </a:p>
          </p:txBody>
        </p:sp>
      </p:grpSp>
      <p:sp>
        <p:nvSpPr>
          <p:cNvPr id="7" name="Freeform 7"/>
          <p:cNvSpPr/>
          <p:nvPr/>
        </p:nvSpPr>
        <p:spPr>
          <a:xfrm>
            <a:off x="2866507" y="3337509"/>
            <a:ext cx="12118284" cy="4574652"/>
          </a:xfrm>
          <a:custGeom>
            <a:avLst/>
            <a:gdLst/>
            <a:ahLst/>
            <a:cxnLst/>
            <a:rect l="l" t="t" r="r" b="b"/>
            <a:pathLst>
              <a:path w="12118284" h="4574652">
                <a:moveTo>
                  <a:pt x="0" y="0"/>
                </a:moveTo>
                <a:lnTo>
                  <a:pt x="12118284" y="0"/>
                </a:lnTo>
                <a:lnTo>
                  <a:pt x="12118284" y="4574652"/>
                </a:lnTo>
                <a:lnTo>
                  <a:pt x="0" y="4574652"/>
                </a:lnTo>
                <a:lnTo>
                  <a:pt x="0" y="0"/>
                </a:lnTo>
                <a:close/>
              </a:path>
            </a:pathLst>
          </a:custGeom>
          <a:blipFill>
            <a:blip r:embed="rId1"/>
            <a:stretch>
              <a:fillRect/>
            </a:stretch>
          </a:blipFill>
        </p:spPr>
        <p:txBody>
          <a:bodyPr/>
          <a:lstStyle/>
          <a:p>
            <a:endParaRPr lang="zh-CN" altLang="en-US"/>
          </a:p>
        </p:txBody>
      </p:sp>
      <p:sp>
        <p:nvSpPr>
          <p:cNvPr id="8" name="TextBox 8"/>
          <p:cNvSpPr txBox="1"/>
          <p:nvPr/>
        </p:nvSpPr>
        <p:spPr>
          <a:xfrm>
            <a:off x="12892946" y="8524252"/>
            <a:ext cx="4677349" cy="796290"/>
          </a:xfrm>
          <a:prstGeom prst="rect">
            <a:avLst/>
          </a:prstGeom>
        </p:spPr>
        <p:txBody>
          <a:bodyPr lIns="0" tIns="0" rIns="0" bIns="0" rtlCol="0" anchor="t">
            <a:spAutoFit/>
          </a:bodyPr>
          <a:lstStyle/>
          <a:p>
            <a:pPr algn="r">
              <a:lnSpc>
                <a:spcPts val="3105"/>
              </a:lnSpc>
            </a:pPr>
            <a:r>
              <a:rPr lang="zh-CN" altLang="en-US" sz="2590" spc="-25">
                <a:solidFill>
                  <a:srgbClr val="1F191A"/>
                </a:solidFill>
                <a:latin typeface="Aileron Light" panose="00000400000000000000"/>
                <a:ea typeface="宋体" panose="02010600030101010101" pitchFamily="2" charset="-122"/>
                <a:cs typeface="Aileron Light" panose="00000400000000000000"/>
                <a:sym typeface="Aileron Light" panose="00000400000000000000"/>
              </a:rPr>
              <a:t>何宛宸</a:t>
            </a:r>
            <a:r>
              <a:rPr lang="en-US" altLang="zh-CN" sz="2590" spc="-25">
                <a:solidFill>
                  <a:srgbClr val="1F191A"/>
                </a:solidFill>
                <a:latin typeface="Aileron Light" panose="00000400000000000000"/>
                <a:ea typeface="宋体" panose="02010600030101010101" pitchFamily="2" charset="-122"/>
                <a:cs typeface="Aileron Light" panose="00000400000000000000"/>
                <a:sym typeface="Aileron Light" panose="00000400000000000000"/>
              </a:rPr>
              <a:t> </a:t>
            </a:r>
            <a:r>
              <a:rPr lang="zh-CN" altLang="en-US" sz="2590" spc="-25">
                <a:solidFill>
                  <a:srgbClr val="1F191A"/>
                </a:solidFill>
                <a:latin typeface="Aileron Light" panose="00000400000000000000"/>
                <a:ea typeface="宋体" panose="02010600030101010101" pitchFamily="2" charset="-122"/>
                <a:cs typeface="Aileron Light" panose="00000400000000000000"/>
                <a:sym typeface="Aileron Light" panose="00000400000000000000"/>
              </a:rPr>
              <a:t>吕艾伦</a:t>
            </a:r>
            <a:r>
              <a:rPr lang="en-US" altLang="zh-CN" sz="2590" spc="-25">
                <a:solidFill>
                  <a:srgbClr val="1F191A"/>
                </a:solidFill>
                <a:latin typeface="Aileron Light" panose="00000400000000000000"/>
                <a:ea typeface="宋体" panose="02010600030101010101" pitchFamily="2" charset="-122"/>
                <a:cs typeface="Aileron Light" panose="00000400000000000000"/>
                <a:sym typeface="Aileron Light" panose="00000400000000000000"/>
              </a:rPr>
              <a:t> </a:t>
            </a:r>
            <a:r>
              <a:rPr lang="zh-CN" altLang="en-US" sz="2590" spc="-25">
                <a:solidFill>
                  <a:srgbClr val="1F191A"/>
                </a:solidFill>
                <a:latin typeface="Aileron Light" panose="00000400000000000000"/>
                <a:ea typeface="宋体" panose="02010600030101010101" pitchFamily="2" charset="-122"/>
                <a:cs typeface="Aileron Light" panose="00000400000000000000"/>
                <a:sym typeface="Aileron Light" panose="00000400000000000000"/>
              </a:rPr>
              <a:t>刘珂杉</a:t>
            </a:r>
            <a:endParaRPr lang="zh-CN" altLang="en-US" sz="2590" spc="-25">
              <a:solidFill>
                <a:srgbClr val="1F191A"/>
              </a:solidFill>
              <a:latin typeface="Aileron Light" panose="00000400000000000000"/>
              <a:ea typeface="宋体" panose="02010600030101010101" pitchFamily="2" charset="-122"/>
              <a:cs typeface="Aileron Light" panose="00000400000000000000"/>
              <a:sym typeface="Aileron Light" panose="00000400000000000000"/>
            </a:endParaRPr>
          </a:p>
          <a:p>
            <a:pPr algn="r">
              <a:lnSpc>
                <a:spcPts val="3105"/>
              </a:lnSpc>
            </a:pPr>
            <a:r>
              <a:rPr lang="zh-CN" altLang="en-US" sz="2590" spc="-25">
                <a:solidFill>
                  <a:srgbClr val="1F191A"/>
                </a:solidFill>
                <a:latin typeface="Aileron Light" panose="00000400000000000000"/>
                <a:ea typeface="宋体" panose="02010600030101010101" pitchFamily="2" charset="-122"/>
                <a:cs typeface="Aileron Light" panose="00000400000000000000"/>
                <a:sym typeface="Aileron Light" panose="00000400000000000000"/>
              </a:rPr>
              <a:t>心理测量学小组汇报</a:t>
            </a:r>
            <a:endParaRPr lang="zh-CN" altLang="en-US" sz="2590" spc="-25">
              <a:solidFill>
                <a:srgbClr val="1F191A"/>
              </a:solidFill>
              <a:latin typeface="Aileron Light" panose="00000400000000000000"/>
              <a:ea typeface="宋体" panose="02010600030101010101" pitchFamily="2" charset="-122"/>
              <a:cs typeface="Aileron Light" panose="00000400000000000000"/>
              <a:sym typeface="Aileron Light" panose="00000400000000000000"/>
            </a:endParaRPr>
          </a:p>
        </p:txBody>
      </p:sp>
      <p:sp>
        <p:nvSpPr>
          <p:cNvPr id="10" name="TextBox 10"/>
          <p:cNvSpPr txBox="1"/>
          <p:nvPr/>
        </p:nvSpPr>
        <p:spPr>
          <a:xfrm>
            <a:off x="8197970" y="9017319"/>
            <a:ext cx="1892060" cy="337185"/>
          </a:xfrm>
          <a:prstGeom prst="rect">
            <a:avLst/>
          </a:prstGeom>
        </p:spPr>
        <p:txBody>
          <a:bodyPr lIns="0" tIns="0" rIns="0" bIns="0" rtlCol="0" anchor="t">
            <a:spAutoFit/>
          </a:bodyPr>
          <a:lstStyle/>
          <a:p>
            <a:pPr marL="0" lvl="0" indent="0" algn="ctr">
              <a:lnSpc>
                <a:spcPts val="2630"/>
              </a:lnSpc>
              <a:spcBef>
                <a:spcPct val="0"/>
              </a:spcBef>
            </a:pPr>
            <a:r>
              <a:rPr lang="zh-CN" altLang="en-US" sz="2925" b="1" spc="-233">
                <a:solidFill>
                  <a:srgbClr val="EF4434"/>
                </a:solidFill>
                <a:latin typeface="Aileron Bold" panose="00000800000000000000"/>
                <a:ea typeface="宋体" panose="02010600030101010101" pitchFamily="2" charset="-122"/>
                <a:cs typeface="Aileron Bold" panose="00000800000000000000"/>
                <a:sym typeface="Aileron Bold" panose="00000800000000000000"/>
              </a:rPr>
              <a:t>错失恐惧</a:t>
            </a:r>
            <a:endParaRPr lang="zh-CN" altLang="en-US" sz="2925" b="1" spc="-233">
              <a:solidFill>
                <a:srgbClr val="EF4434"/>
              </a:solidFill>
              <a:latin typeface="Aileron Bold" panose="00000800000000000000"/>
              <a:ea typeface="宋体" panose="02010600030101010101" pitchFamily="2" charset="-122"/>
              <a:cs typeface="Aileron Bold" panose="00000800000000000000"/>
              <a:sym typeface="Aileron Bold" panose="00000800000000000000"/>
            </a:endParaRPr>
          </a:p>
        </p:txBody>
      </p:sp>
      <p:sp>
        <p:nvSpPr>
          <p:cNvPr id="11" name="TextBox 11"/>
          <p:cNvSpPr txBox="1"/>
          <p:nvPr/>
        </p:nvSpPr>
        <p:spPr>
          <a:xfrm>
            <a:off x="805333" y="8686177"/>
            <a:ext cx="4019809" cy="984885"/>
          </a:xfrm>
          <a:prstGeom prst="rect">
            <a:avLst/>
          </a:prstGeom>
        </p:spPr>
        <p:txBody>
          <a:bodyPr lIns="0" tIns="0" rIns="0" bIns="0" rtlCol="0" anchor="t">
            <a:spAutoFit/>
          </a:bodyPr>
          <a:lstStyle/>
          <a:p>
            <a:pPr algn="l">
              <a:lnSpc>
                <a:spcPts val="3840"/>
              </a:lnSpc>
            </a:pPr>
            <a:r>
              <a:rPr lang="en-US" altLang="zh-CN" sz="4570" b="1" spc="-228">
                <a:solidFill>
                  <a:srgbClr val="1F191A"/>
                </a:solidFill>
                <a:latin typeface="Aileron Bold" panose="00000800000000000000"/>
                <a:ea typeface="Aileron Bold" panose="00000800000000000000"/>
                <a:cs typeface="Aileron Bold" panose="00000800000000000000"/>
                <a:sym typeface="Aileron Bold" panose="00000800000000000000"/>
              </a:rPr>
              <a:t>Fear of </a:t>
            </a:r>
            <a:endParaRPr lang="en-US" altLang="zh-CN" sz="4570" b="1" spc="-228">
              <a:solidFill>
                <a:srgbClr val="1F191A"/>
              </a:solidFill>
              <a:latin typeface="Aileron Bold" panose="00000800000000000000"/>
              <a:ea typeface="Aileron Bold" panose="00000800000000000000"/>
              <a:cs typeface="Aileron Bold" panose="00000800000000000000"/>
              <a:sym typeface="Aileron Bold" panose="00000800000000000000"/>
            </a:endParaRPr>
          </a:p>
          <a:p>
            <a:pPr algn="l">
              <a:lnSpc>
                <a:spcPts val="3840"/>
              </a:lnSpc>
            </a:pPr>
            <a:r>
              <a:rPr lang="en-US" altLang="zh-CN" sz="4570" b="1" spc="-228">
                <a:solidFill>
                  <a:srgbClr val="1F191A"/>
                </a:solidFill>
                <a:latin typeface="Aileron Bold" panose="00000800000000000000"/>
                <a:ea typeface="Aileron Bold" panose="00000800000000000000"/>
                <a:cs typeface="Aileron Bold" panose="00000800000000000000"/>
                <a:sym typeface="Aileron Bold" panose="00000800000000000000"/>
              </a:rPr>
              <a:t>Missing Out</a:t>
            </a:r>
            <a:endParaRPr lang="en-US" sz="4570" b="1" spc="-228">
              <a:solidFill>
                <a:srgbClr val="1F191A"/>
              </a:solidFill>
              <a:latin typeface="Aileron Bold" panose="00000800000000000000"/>
              <a:ea typeface="Aileron Bold" panose="00000800000000000000"/>
              <a:cs typeface="Aileron Bold" panose="00000800000000000000"/>
              <a:sym typeface="Aileron Bold" panose="000008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grpSp>
        <p:nvGrpSpPr>
          <p:cNvPr id="2" name="Group 2"/>
          <p:cNvGrpSpPr/>
          <p:nvPr/>
        </p:nvGrpSpPr>
        <p:grpSpPr>
          <a:xfrm>
            <a:off x="1385847" y="8897936"/>
            <a:ext cx="3086100" cy="515961"/>
            <a:chOff x="0" y="0"/>
            <a:chExt cx="812800" cy="135891"/>
          </a:xfrm>
        </p:grpSpPr>
        <p:sp>
          <p:nvSpPr>
            <p:cNvPr id="3" name="Freeform 3"/>
            <p:cNvSpPr/>
            <p:nvPr/>
          </p:nvSpPr>
          <p:spPr>
            <a:xfrm>
              <a:off x="0" y="0"/>
              <a:ext cx="812800" cy="135891"/>
            </a:xfrm>
            <a:custGeom>
              <a:avLst/>
              <a:gdLst/>
              <a:ahLst/>
              <a:cxnLst/>
              <a:rect l="l" t="t" r="r" b="b"/>
              <a:pathLst>
                <a:path w="812800" h="135891">
                  <a:moveTo>
                    <a:pt x="406400" y="0"/>
                  </a:moveTo>
                  <a:cubicBezTo>
                    <a:pt x="181951" y="0"/>
                    <a:pt x="0" y="30420"/>
                    <a:pt x="0" y="67945"/>
                  </a:cubicBezTo>
                  <a:cubicBezTo>
                    <a:pt x="0" y="105471"/>
                    <a:pt x="181951" y="135891"/>
                    <a:pt x="406400" y="135891"/>
                  </a:cubicBezTo>
                  <a:cubicBezTo>
                    <a:pt x="630849" y="135891"/>
                    <a:pt x="812800" y="105471"/>
                    <a:pt x="812800" y="67945"/>
                  </a:cubicBezTo>
                  <a:cubicBezTo>
                    <a:pt x="812800" y="30420"/>
                    <a:pt x="630849" y="0"/>
                    <a:pt x="406400" y="0"/>
                  </a:cubicBezTo>
                  <a:close/>
                </a:path>
              </a:pathLst>
            </a:custGeom>
            <a:solidFill>
              <a:srgbClr val="000000"/>
            </a:solidFill>
          </p:spPr>
          <p:txBody>
            <a:bodyPr/>
            <a:lstStyle/>
            <a:p>
              <a:endParaRPr lang="zh-CN" altLang="en-US"/>
            </a:p>
          </p:txBody>
        </p:sp>
        <p:sp>
          <p:nvSpPr>
            <p:cNvPr id="4" name="TextBox 4"/>
            <p:cNvSpPr txBox="1"/>
            <p:nvPr/>
          </p:nvSpPr>
          <p:spPr>
            <a:xfrm>
              <a:off x="76200" y="-34885"/>
              <a:ext cx="660400" cy="158036"/>
            </a:xfrm>
            <a:prstGeom prst="rect">
              <a:avLst/>
            </a:prstGeom>
          </p:spPr>
          <p:txBody>
            <a:bodyPr lIns="50800" tIns="50800" rIns="50800" bIns="50800" rtlCol="0" anchor="ctr"/>
            <a:lstStyle/>
            <a:p>
              <a:pPr algn="ctr">
                <a:lnSpc>
                  <a:spcPts val="3360"/>
                </a:lnSpc>
              </a:pPr>
            </a:p>
          </p:txBody>
        </p:sp>
      </p:grpSp>
      <p:grpSp>
        <p:nvGrpSpPr>
          <p:cNvPr id="5" name="Group 5"/>
          <p:cNvGrpSpPr/>
          <p:nvPr/>
        </p:nvGrpSpPr>
        <p:grpSpPr>
          <a:xfrm>
            <a:off x="1772637" y="1028700"/>
            <a:ext cx="3769738" cy="8165498"/>
            <a:chOff x="0" y="0"/>
            <a:chExt cx="5026318" cy="10887330"/>
          </a:xfrm>
        </p:grpSpPr>
        <p:grpSp>
          <p:nvGrpSpPr>
            <p:cNvPr id="6" name="Group 6"/>
            <p:cNvGrpSpPr/>
            <p:nvPr/>
          </p:nvGrpSpPr>
          <p:grpSpPr>
            <a:xfrm>
              <a:off x="2557993" y="670805"/>
              <a:ext cx="2127214" cy="212721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4434"/>
              </a:solidFill>
            </p:spPr>
            <p:txBody>
              <a:bodyPr/>
              <a:lstStyle/>
              <a:p>
                <a:endParaRPr lang="zh-CN" altLang="en-U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360"/>
                  </a:lnSpc>
                </a:pPr>
              </a:p>
            </p:txBody>
          </p:sp>
        </p:grpSp>
        <p:sp>
          <p:nvSpPr>
            <p:cNvPr id="9" name="Freeform 9"/>
            <p:cNvSpPr/>
            <p:nvPr/>
          </p:nvSpPr>
          <p:spPr>
            <a:xfrm>
              <a:off x="0" y="0"/>
              <a:ext cx="5026318" cy="10887330"/>
            </a:xfrm>
            <a:custGeom>
              <a:avLst/>
              <a:gdLst/>
              <a:ahLst/>
              <a:cxnLst/>
              <a:rect l="l" t="t" r="r" b="b"/>
              <a:pathLst>
                <a:path w="5026318" h="10887330">
                  <a:moveTo>
                    <a:pt x="0" y="0"/>
                  </a:moveTo>
                  <a:lnTo>
                    <a:pt x="5026318" y="0"/>
                  </a:lnTo>
                  <a:lnTo>
                    <a:pt x="5026318" y="10887330"/>
                  </a:lnTo>
                  <a:lnTo>
                    <a:pt x="0" y="10887330"/>
                  </a:lnTo>
                  <a:lnTo>
                    <a:pt x="0" y="0"/>
                  </a:lnTo>
                  <a:close/>
                </a:path>
              </a:pathLst>
            </a:custGeom>
            <a:blipFill>
              <a:blip r:embed="rId1"/>
              <a:stretch>
                <a:fillRect/>
              </a:stretch>
            </a:blipFill>
          </p:spPr>
          <p:txBody>
            <a:bodyPr/>
            <a:lstStyle/>
            <a:p>
              <a:endParaRPr lang="zh-CN" altLang="en-US"/>
            </a:p>
          </p:txBody>
        </p:sp>
      </p:grpSp>
      <p:sp>
        <p:nvSpPr>
          <p:cNvPr id="10" name="TextBox 10"/>
          <p:cNvSpPr txBox="1"/>
          <p:nvPr/>
        </p:nvSpPr>
        <p:spPr>
          <a:xfrm>
            <a:off x="6835916" y="7908193"/>
            <a:ext cx="7246749" cy="861695"/>
          </a:xfrm>
          <a:prstGeom prst="rect">
            <a:avLst/>
          </a:prstGeom>
        </p:spPr>
        <p:txBody>
          <a:bodyPr lIns="0" tIns="0" rIns="0" bIns="0" rtlCol="0" anchor="t">
            <a:spAutoFit/>
          </a:bodyPr>
          <a:lstStyle/>
          <a:p>
            <a:pPr marL="0" lvl="0" indent="0" algn="l">
              <a:lnSpc>
                <a:spcPts val="3360"/>
              </a:lnSpc>
              <a:spcBef>
                <a:spcPct val="0"/>
              </a:spcBef>
            </a:pPr>
            <a:r>
              <a:rPr lang="zh-CN" altLang="en-US" sz="2400" spc="-23" dirty="0">
                <a:solidFill>
                  <a:srgbClr val="1F191A"/>
                </a:solidFill>
                <a:latin typeface="Open Sauce Sans Light" panose="00000400000000000000" pitchFamily="2" charset="0"/>
                <a:ea typeface="Open Sauce Light"/>
                <a:cs typeface="Open Sauce Light"/>
                <a:sym typeface="Open Sauce Light"/>
              </a:rPr>
              <a:t>本量表针对中国大学生群体，测量其在日常社交和校园生活情境中的</a:t>
            </a:r>
            <a:r>
              <a:rPr lang="en-US" altLang="zh-CN" sz="2400" spc="-23" dirty="0">
                <a:solidFill>
                  <a:srgbClr val="1F191A"/>
                </a:solidFill>
                <a:latin typeface="Open Sauce Sans Light" panose="00000400000000000000" pitchFamily="2" charset="0"/>
                <a:ea typeface="Open Sauce Light"/>
                <a:cs typeface="Open Sauce Light"/>
                <a:sym typeface="Open Sauce Light"/>
              </a:rPr>
              <a:t>FoMO</a:t>
            </a:r>
            <a:r>
              <a:rPr lang="zh-CN" altLang="en-US" sz="2400" spc="-23" dirty="0">
                <a:solidFill>
                  <a:srgbClr val="1F191A"/>
                </a:solidFill>
                <a:latin typeface="Open Sauce Sans Light" panose="00000400000000000000" pitchFamily="2" charset="0"/>
                <a:ea typeface="Open Sauce Light"/>
                <a:cs typeface="Open Sauce Light"/>
                <a:sym typeface="Open Sauce Light"/>
              </a:rPr>
              <a:t>倾向</a:t>
            </a:r>
            <a:endParaRPr lang="zh-CN" altLang="en-US" sz="2400" spc="-23" dirty="0">
              <a:solidFill>
                <a:srgbClr val="1F191A"/>
              </a:solidFill>
              <a:latin typeface="Open Sauce Sans Light" panose="00000400000000000000" pitchFamily="2" charset="0"/>
              <a:ea typeface="Open Sauce Light"/>
              <a:cs typeface="Open Sauce Light"/>
              <a:sym typeface="Open Sauce Light"/>
            </a:endParaRPr>
          </a:p>
        </p:txBody>
      </p:sp>
      <p:sp>
        <p:nvSpPr>
          <p:cNvPr id="11" name="TextBox 11"/>
          <p:cNvSpPr txBox="1"/>
          <p:nvPr/>
        </p:nvSpPr>
        <p:spPr>
          <a:xfrm>
            <a:off x="6835916" y="1889943"/>
            <a:ext cx="10423384" cy="5755005"/>
          </a:xfrm>
          <a:prstGeom prst="rect">
            <a:avLst/>
          </a:prstGeom>
        </p:spPr>
        <p:txBody>
          <a:bodyPr lIns="0" tIns="0" rIns="0" bIns="0" rtlCol="0" anchor="t">
            <a:spAutoFit/>
          </a:bodyPr>
          <a:lstStyle/>
          <a:p>
            <a:pPr marL="0" lvl="0" indent="0" algn="l">
              <a:lnSpc>
                <a:spcPts val="7480"/>
              </a:lnSpc>
            </a:pPr>
            <a:r>
              <a:rPr lang="en-US" altLang="zh-CN" sz="4800" spc="-203" dirty="0">
                <a:solidFill>
                  <a:srgbClr val="1F191A"/>
                </a:solidFill>
                <a:latin typeface="Aileron Bold" panose="00000800000000000000"/>
                <a:ea typeface="Aileron Bold" panose="00000800000000000000"/>
                <a:cs typeface="Aileron Bold" panose="00000800000000000000"/>
                <a:sym typeface="Aileron"/>
              </a:rPr>
              <a:t>FoMO</a:t>
            </a:r>
            <a:r>
              <a:rPr lang="zh-CN" altLang="en-US" sz="4800" spc="-203" dirty="0">
                <a:solidFill>
                  <a:srgbClr val="1F191A"/>
                </a:solidFill>
                <a:latin typeface="Aileron Bold" panose="00000800000000000000"/>
                <a:ea typeface="Aileron Bold" panose="00000800000000000000"/>
                <a:cs typeface="Aileron Bold" panose="00000800000000000000"/>
                <a:sym typeface="Aileron"/>
              </a:rPr>
              <a:t>（</a:t>
            </a:r>
            <a:r>
              <a:rPr lang="en-US" altLang="zh-CN" sz="4800" spc="-203" dirty="0">
                <a:solidFill>
                  <a:srgbClr val="1F191A"/>
                </a:solidFill>
                <a:latin typeface="Aileron Bold" panose="00000800000000000000"/>
                <a:ea typeface="Aileron Bold" panose="00000800000000000000"/>
                <a:cs typeface="Aileron Bold" panose="00000800000000000000"/>
                <a:sym typeface="Aileron"/>
              </a:rPr>
              <a:t>Fear of Missing Out</a:t>
            </a:r>
            <a:r>
              <a:rPr lang="zh-CN" altLang="en-US" sz="4800" spc="-203" dirty="0">
                <a:solidFill>
                  <a:srgbClr val="1F191A"/>
                </a:solidFill>
                <a:latin typeface="Aileron Bold" panose="00000800000000000000"/>
                <a:ea typeface="Aileron Bold" panose="00000800000000000000"/>
                <a:cs typeface="Aileron Bold" panose="00000800000000000000"/>
                <a:sym typeface="Aileron"/>
              </a:rPr>
              <a:t>，错失恐惧）是指个体因担心错失他人的新奇经历或正性事件而产生的一种弥散性焦虑。安德鲁</a:t>
            </a:r>
            <a:r>
              <a:rPr lang="en-US" altLang="zh-CN" sz="4800" spc="-203" dirty="0">
                <a:solidFill>
                  <a:srgbClr val="1F191A"/>
                </a:solidFill>
                <a:latin typeface="Aileron Bold" panose="00000800000000000000"/>
                <a:ea typeface="Aileron Bold" panose="00000800000000000000"/>
                <a:cs typeface="Aileron Bold" panose="00000800000000000000"/>
                <a:sym typeface="Aileron"/>
              </a:rPr>
              <a:t>·K·</a:t>
            </a:r>
            <a:r>
              <a:rPr lang="zh-CN" altLang="en-US" sz="4800" spc="-203" dirty="0">
                <a:solidFill>
                  <a:srgbClr val="1F191A"/>
                </a:solidFill>
                <a:latin typeface="Aileron Bold" panose="00000800000000000000"/>
                <a:ea typeface="Aileron Bold" panose="00000800000000000000"/>
                <a:cs typeface="Aileron Bold" panose="00000800000000000000"/>
                <a:sym typeface="Aileron"/>
              </a:rPr>
              <a:t>普日比尔斯基等人将其正式定义为</a:t>
            </a:r>
            <a:r>
              <a:rPr lang="en-US" altLang="zh-CN" sz="4800" spc="-203" dirty="0">
                <a:solidFill>
                  <a:srgbClr val="1F191A"/>
                </a:solidFill>
                <a:latin typeface="Aileron Bold" panose="00000800000000000000"/>
                <a:ea typeface="Aileron Bold" panose="00000800000000000000"/>
                <a:cs typeface="Aileron Bold" panose="00000800000000000000"/>
                <a:sym typeface="Aileron"/>
              </a:rPr>
              <a:t>“</a:t>
            </a:r>
            <a:r>
              <a:rPr lang="zh-CN" altLang="en-US" sz="4800" spc="-203" dirty="0">
                <a:solidFill>
                  <a:srgbClr val="1F191A"/>
                </a:solidFill>
                <a:latin typeface="Aileron Bold" panose="00000800000000000000"/>
                <a:ea typeface="Aileron Bold" panose="00000800000000000000"/>
                <a:cs typeface="Aileron Bold" panose="00000800000000000000"/>
                <a:sym typeface="Aileron"/>
              </a:rPr>
              <a:t>一种弥散的忧虑，担心他人可能正在经历自己缺席的有价值体验</a:t>
            </a:r>
            <a:r>
              <a:rPr lang="en-US" altLang="zh-CN" sz="4800" spc="-203" dirty="0">
                <a:solidFill>
                  <a:srgbClr val="1F191A"/>
                </a:solidFill>
                <a:latin typeface="Aileron Bold" panose="00000800000000000000"/>
                <a:ea typeface="Aileron Bold" panose="00000800000000000000"/>
                <a:cs typeface="Aileron Bold" panose="00000800000000000000"/>
                <a:sym typeface="Aileron"/>
              </a:rPr>
              <a:t>”</a:t>
            </a:r>
            <a:endParaRPr lang="en-US" altLang="zh-CN" sz="4800" spc="-203" dirty="0">
              <a:solidFill>
                <a:srgbClr val="1F191A"/>
              </a:solidFill>
              <a:latin typeface="Aileron Bold" panose="00000800000000000000"/>
              <a:ea typeface="Aileron Bold" panose="00000800000000000000"/>
              <a:cs typeface="Aileron Bold" panose="00000800000000000000"/>
              <a:sym typeface="Aileron"/>
            </a:endParaRPr>
          </a:p>
        </p:txBody>
      </p:sp>
      <p:sp>
        <p:nvSpPr>
          <p:cNvPr id="12" name="Freeform 12"/>
          <p:cNvSpPr/>
          <p:nvPr/>
        </p:nvSpPr>
        <p:spPr>
          <a:xfrm rot="5400000">
            <a:off x="16135588" y="7880974"/>
            <a:ext cx="736376" cy="736376"/>
          </a:xfrm>
          <a:custGeom>
            <a:avLst/>
            <a:gdLst/>
            <a:ahLst/>
            <a:cxnLst/>
            <a:rect l="l" t="t" r="r" b="b"/>
            <a:pathLst>
              <a:path w="736376" h="736376">
                <a:moveTo>
                  <a:pt x="0" y="0"/>
                </a:moveTo>
                <a:lnTo>
                  <a:pt x="736377" y="0"/>
                </a:lnTo>
                <a:lnTo>
                  <a:pt x="736377" y="736376"/>
                </a:lnTo>
                <a:lnTo>
                  <a:pt x="0" y="7363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grpSp>
        <p:nvGrpSpPr>
          <p:cNvPr id="2" name="Group 2"/>
          <p:cNvGrpSpPr/>
          <p:nvPr/>
        </p:nvGrpSpPr>
        <p:grpSpPr>
          <a:xfrm>
            <a:off x="8451690" y="3692127"/>
            <a:ext cx="8807610" cy="5623960"/>
            <a:chOff x="0" y="0"/>
            <a:chExt cx="11743481" cy="7498614"/>
          </a:xfrm>
        </p:grpSpPr>
        <p:grpSp>
          <p:nvGrpSpPr>
            <p:cNvPr id="3" name="Group 3"/>
            <p:cNvGrpSpPr/>
            <p:nvPr/>
          </p:nvGrpSpPr>
          <p:grpSpPr>
            <a:xfrm>
              <a:off x="0" y="4257264"/>
              <a:ext cx="11743481" cy="3241350"/>
              <a:chOff x="0" y="0"/>
              <a:chExt cx="2319700" cy="640267"/>
            </a:xfrm>
          </p:grpSpPr>
          <p:sp>
            <p:nvSpPr>
              <p:cNvPr id="4" name="Freeform 4"/>
              <p:cNvSpPr/>
              <p:nvPr/>
            </p:nvSpPr>
            <p:spPr>
              <a:xfrm>
                <a:off x="0" y="0"/>
                <a:ext cx="2319700" cy="640267"/>
              </a:xfrm>
              <a:custGeom>
                <a:avLst/>
                <a:gdLst/>
                <a:ahLst/>
                <a:cxnLst/>
                <a:rect l="l" t="t" r="r" b="b"/>
                <a:pathLst>
                  <a:path w="2319700" h="640267">
                    <a:moveTo>
                      <a:pt x="1159850" y="0"/>
                    </a:moveTo>
                    <a:cubicBezTo>
                      <a:pt x="519282" y="0"/>
                      <a:pt x="0" y="143329"/>
                      <a:pt x="0" y="320133"/>
                    </a:cubicBezTo>
                    <a:cubicBezTo>
                      <a:pt x="0" y="496938"/>
                      <a:pt x="519282" y="640267"/>
                      <a:pt x="1159850" y="640267"/>
                    </a:cubicBezTo>
                    <a:cubicBezTo>
                      <a:pt x="1800417" y="640267"/>
                      <a:pt x="2319700" y="496938"/>
                      <a:pt x="2319700" y="320133"/>
                    </a:cubicBezTo>
                    <a:cubicBezTo>
                      <a:pt x="2319700" y="143329"/>
                      <a:pt x="1800417" y="0"/>
                      <a:pt x="1159850" y="0"/>
                    </a:cubicBezTo>
                    <a:close/>
                  </a:path>
                </a:pathLst>
              </a:custGeom>
              <a:solidFill>
                <a:srgbClr val="F26843"/>
              </a:solidFill>
            </p:spPr>
            <p:txBody>
              <a:bodyPr/>
              <a:lstStyle/>
              <a:p>
                <a:endParaRPr lang="zh-CN" altLang="en-US"/>
              </a:p>
            </p:txBody>
          </p:sp>
          <p:sp>
            <p:nvSpPr>
              <p:cNvPr id="5" name="TextBox 5"/>
              <p:cNvSpPr txBox="1"/>
              <p:nvPr/>
            </p:nvSpPr>
            <p:spPr>
              <a:xfrm>
                <a:off x="217472" y="12400"/>
                <a:ext cx="1884756" cy="567842"/>
              </a:xfrm>
              <a:prstGeom prst="rect">
                <a:avLst/>
              </a:prstGeom>
            </p:spPr>
            <p:txBody>
              <a:bodyPr lIns="50800" tIns="50800" rIns="50800" bIns="50800" rtlCol="0" anchor="ctr"/>
              <a:lstStyle/>
              <a:p>
                <a:pPr algn="ctr">
                  <a:lnSpc>
                    <a:spcPts val="3360"/>
                  </a:lnSpc>
                </a:pPr>
              </a:p>
            </p:txBody>
          </p:sp>
        </p:grpSp>
        <p:sp>
          <p:nvSpPr>
            <p:cNvPr id="6" name="Freeform 6"/>
            <p:cNvSpPr/>
            <p:nvPr/>
          </p:nvSpPr>
          <p:spPr>
            <a:xfrm flipH="1">
              <a:off x="569767" y="0"/>
              <a:ext cx="10219576" cy="7498614"/>
            </a:xfrm>
            <a:custGeom>
              <a:avLst/>
              <a:gdLst/>
              <a:ahLst/>
              <a:cxnLst/>
              <a:rect l="l" t="t" r="r" b="b"/>
              <a:pathLst>
                <a:path w="10219576" h="7498614">
                  <a:moveTo>
                    <a:pt x="10219576" y="0"/>
                  </a:moveTo>
                  <a:lnTo>
                    <a:pt x="0" y="0"/>
                  </a:lnTo>
                  <a:lnTo>
                    <a:pt x="0" y="7498614"/>
                  </a:lnTo>
                  <a:lnTo>
                    <a:pt x="10219576" y="7498614"/>
                  </a:lnTo>
                  <a:lnTo>
                    <a:pt x="10219576" y="0"/>
                  </a:lnTo>
                  <a:close/>
                </a:path>
              </a:pathLst>
            </a:custGeom>
            <a:blipFill>
              <a:blip r:embed="rId1"/>
              <a:stretch>
                <a:fillRect/>
              </a:stretch>
            </a:blipFill>
          </p:spPr>
          <p:txBody>
            <a:bodyPr/>
            <a:lstStyle/>
            <a:p>
              <a:endParaRPr lang="zh-CN" altLang="en-US"/>
            </a:p>
          </p:txBody>
        </p:sp>
      </p:grpSp>
      <p:sp>
        <p:nvSpPr>
          <p:cNvPr id="16" name="TextBox 16"/>
          <p:cNvSpPr txBox="1"/>
          <p:nvPr/>
        </p:nvSpPr>
        <p:spPr>
          <a:xfrm>
            <a:off x="1028700" y="1076325"/>
            <a:ext cx="15600680" cy="1656080"/>
          </a:xfrm>
          <a:prstGeom prst="rect">
            <a:avLst/>
          </a:prstGeom>
        </p:spPr>
        <p:txBody>
          <a:bodyPr wrap="square" lIns="0" tIns="0" rIns="0" bIns="0" rtlCol="0" anchor="t">
            <a:spAutoFit/>
          </a:bodyPr>
          <a:lstStyle/>
          <a:p>
            <a:pPr marL="0" lvl="0" indent="0" algn="l">
              <a:lnSpc>
                <a:spcPts val="12915"/>
              </a:lnSpc>
              <a:spcBef>
                <a:spcPct val="0"/>
              </a:spcBef>
            </a:pPr>
            <a:r>
              <a:rPr lang="zh-CN" altLang="en-US" sz="8800" spc="-387">
                <a:solidFill>
                  <a:srgbClr val="1F191A"/>
                </a:solidFill>
                <a:latin typeface="Aileron Bold" panose="00000800000000000000"/>
                <a:ea typeface="Aileron Bold" panose="00000800000000000000"/>
                <a:cs typeface="Aileron Bold" panose="00000800000000000000"/>
                <a:sym typeface="Aileron"/>
              </a:rPr>
              <a:t>错失动机（</a:t>
            </a:r>
            <a:r>
              <a:rPr lang="en-US" altLang="zh-CN" sz="8800" spc="-387">
                <a:solidFill>
                  <a:srgbClr val="1F191A"/>
                </a:solidFill>
                <a:latin typeface="Aileron Bold" panose="00000800000000000000"/>
                <a:ea typeface="Aileron Bold" panose="00000800000000000000"/>
                <a:cs typeface="Aileron Bold" panose="00000800000000000000"/>
                <a:sym typeface="Aileron"/>
              </a:rPr>
              <a:t>Missing Motivation</a:t>
            </a:r>
            <a:r>
              <a:rPr lang="zh-CN" altLang="en-US" sz="8800" spc="-387">
                <a:solidFill>
                  <a:srgbClr val="1F191A"/>
                </a:solidFill>
                <a:latin typeface="Aileron Bold" panose="00000800000000000000"/>
                <a:ea typeface="Aileron Bold" panose="00000800000000000000"/>
                <a:cs typeface="Aileron Bold" panose="00000800000000000000"/>
                <a:sym typeface="Aileron"/>
              </a:rPr>
              <a:t>）</a:t>
            </a:r>
            <a:endParaRPr lang="zh-CN" altLang="en-US" sz="8800" spc="-387">
              <a:solidFill>
                <a:srgbClr val="1F191A"/>
              </a:solidFill>
              <a:latin typeface="Aileron Bold" panose="00000800000000000000"/>
              <a:ea typeface="Aileron Bold" panose="00000800000000000000"/>
              <a:cs typeface="Aileron Bold" panose="00000800000000000000"/>
              <a:sym typeface="Aileron"/>
            </a:endParaRPr>
          </a:p>
        </p:txBody>
      </p:sp>
      <p:sp>
        <p:nvSpPr>
          <p:cNvPr id="18" name="TextBox 7"/>
          <p:cNvSpPr txBox="1"/>
          <p:nvPr/>
        </p:nvSpPr>
        <p:spPr>
          <a:xfrm>
            <a:off x="1219835" y="5143500"/>
            <a:ext cx="6521450" cy="1210310"/>
          </a:xfrm>
          <a:prstGeom prst="rect">
            <a:avLst/>
          </a:prstGeom>
        </p:spPr>
        <p:txBody>
          <a:bodyPr lIns="0" tIns="0" rIns="0" bIns="0" rtlCol="0" anchor="t">
            <a:noAutofit/>
          </a:bodyPr>
          <a:lstStyle/>
          <a:p>
            <a:pPr marL="0" lvl="0" indent="0" algn="l">
              <a:lnSpc>
                <a:spcPts val="3360"/>
              </a:lnSpc>
              <a:spcBef>
                <a:spcPct val="0"/>
              </a:spcBef>
            </a:pPr>
            <a:r>
              <a:rPr lang="en-US" altLang="zh-CN" sz="2400" spc="-23" dirty="0">
                <a:solidFill>
                  <a:srgbClr val="1F191A"/>
                </a:solidFill>
                <a:latin typeface="Open Sauce Sans Light" panose="00000400000000000000" pitchFamily="2" charset="0"/>
                <a:ea typeface="Open Sauce Light"/>
                <a:cs typeface="Open Sauce Light"/>
                <a:sym typeface="Open Sauce Light"/>
              </a:rPr>
              <a:t>M1 </a:t>
            </a:r>
            <a:r>
              <a:rPr lang="zh-CN" altLang="en-US" sz="2400" spc="-23" dirty="0">
                <a:solidFill>
                  <a:srgbClr val="1F191A"/>
                </a:solidFill>
                <a:latin typeface="Open Sauce Sans Light" panose="00000400000000000000" pitchFamily="2" charset="0"/>
                <a:ea typeface="Open Sauce Light"/>
                <a:cs typeface="Open Sauce Light"/>
                <a:sym typeface="Open Sauce Light"/>
              </a:rPr>
              <a:t>对我来说，在社交媒体上不被朋友们排除在外是一件非常重要的事</a:t>
            </a:r>
            <a:endParaRPr lang="zh-CN" altLang="en-US" sz="2400" spc="-23" dirty="0">
              <a:solidFill>
                <a:srgbClr val="1F191A"/>
              </a:solidFill>
              <a:latin typeface="Open Sauce Sans Light" panose="00000400000000000000" pitchFamily="2" charset="0"/>
              <a:ea typeface="Open Sauce Light"/>
              <a:cs typeface="Open Sauce Light"/>
              <a:sym typeface="Open Sauce Light"/>
            </a:endParaRPr>
          </a:p>
          <a:p>
            <a:pPr marL="0" lvl="0" indent="0" algn="l">
              <a:lnSpc>
                <a:spcPts val="3360"/>
              </a:lnSpc>
              <a:spcBef>
                <a:spcPct val="0"/>
              </a:spcBef>
            </a:pPr>
            <a:r>
              <a:rPr lang="en-US" altLang="zh-CN" sz="2400" spc="-23" dirty="0">
                <a:solidFill>
                  <a:srgbClr val="1F191A"/>
                </a:solidFill>
                <a:latin typeface="Open Sauce Sans Light" panose="00000400000000000000" pitchFamily="2" charset="0"/>
                <a:ea typeface="Open Sauce Light"/>
                <a:cs typeface="Open Sauce Light"/>
                <a:sym typeface="Open Sauce Light"/>
              </a:rPr>
              <a:t>M2 </a:t>
            </a:r>
            <a:r>
              <a:rPr lang="zh-CN" altLang="en-US" sz="2400" spc="-23" dirty="0">
                <a:solidFill>
                  <a:srgbClr val="1F191A"/>
                </a:solidFill>
                <a:latin typeface="Open Sauce Sans Light" panose="00000400000000000000" pitchFamily="2" charset="0"/>
                <a:ea typeface="Open Sauce Light"/>
                <a:cs typeface="Open Sauce Light"/>
                <a:sym typeface="Open Sauce Light"/>
              </a:rPr>
              <a:t>我需要时刻在社交媒体上了解朋友们在做什么，否则会感到不踏实</a:t>
            </a:r>
            <a:endParaRPr lang="zh-CN" altLang="en-US" sz="2400" spc="-23" dirty="0">
              <a:solidFill>
                <a:srgbClr val="1F191A"/>
              </a:solidFill>
              <a:latin typeface="Open Sauce Sans Light" panose="00000400000000000000" pitchFamily="2" charset="0"/>
              <a:ea typeface="Open Sauce Light"/>
              <a:cs typeface="Open Sauce Light"/>
              <a:sym typeface="Open Sauce Light"/>
            </a:endParaRPr>
          </a:p>
          <a:p>
            <a:pPr marL="0" lvl="0" indent="0" algn="l">
              <a:lnSpc>
                <a:spcPts val="3360"/>
              </a:lnSpc>
              <a:spcBef>
                <a:spcPct val="0"/>
              </a:spcBef>
            </a:pPr>
            <a:r>
              <a:rPr lang="en-US" altLang="zh-CN" sz="2400" spc="-23" dirty="0">
                <a:solidFill>
                  <a:srgbClr val="1F191A"/>
                </a:solidFill>
                <a:latin typeface="Open Sauce Sans Light" panose="00000400000000000000" pitchFamily="2" charset="0"/>
                <a:ea typeface="Open Sauce Light"/>
                <a:cs typeface="Open Sauce Light"/>
                <a:sym typeface="Open Sauce Light"/>
              </a:rPr>
              <a:t>M3 </a:t>
            </a:r>
            <a:r>
              <a:rPr lang="zh-CN" altLang="en-US" sz="2400" spc="-23" dirty="0">
                <a:solidFill>
                  <a:srgbClr val="1F191A"/>
                </a:solidFill>
                <a:latin typeface="Open Sauce Sans Light" panose="00000400000000000000" pitchFamily="2" charset="0"/>
                <a:ea typeface="Open Sauce Light"/>
                <a:cs typeface="Open Sauce Light"/>
                <a:sym typeface="Open Sauce Light"/>
              </a:rPr>
              <a:t>如果我错过了朋友间的热门话题，我会觉得自己被边缘化了</a:t>
            </a:r>
            <a:endParaRPr lang="zh-CN" altLang="en-US" sz="2400" spc="-23" dirty="0">
              <a:solidFill>
                <a:srgbClr val="1F191A"/>
              </a:solidFill>
              <a:latin typeface="Open Sauce Sans Light" panose="00000400000000000000" pitchFamily="2" charset="0"/>
              <a:ea typeface="Open Sauce Light"/>
              <a:cs typeface="Open Sauce Light"/>
              <a:sym typeface="Open Sauce Light"/>
            </a:endParaRPr>
          </a:p>
          <a:p>
            <a:pPr marL="0" lvl="0" indent="0" algn="l">
              <a:lnSpc>
                <a:spcPts val="3360"/>
              </a:lnSpc>
              <a:spcBef>
                <a:spcPct val="0"/>
              </a:spcBef>
            </a:pPr>
            <a:r>
              <a:rPr lang="en-US" altLang="zh-CN" sz="2400" spc="-23" dirty="0">
                <a:solidFill>
                  <a:srgbClr val="1F191A"/>
                </a:solidFill>
                <a:latin typeface="Open Sauce Sans Light" panose="00000400000000000000" pitchFamily="2" charset="0"/>
                <a:ea typeface="Open Sauce Light"/>
                <a:cs typeface="Open Sauce Light"/>
                <a:sym typeface="Open Sauce Light"/>
              </a:rPr>
              <a:t>M4 </a:t>
            </a:r>
            <a:r>
              <a:rPr lang="zh-CN" altLang="en-US" sz="2400" spc="-23" dirty="0">
                <a:solidFill>
                  <a:srgbClr val="1F191A"/>
                </a:solidFill>
                <a:latin typeface="Open Sauce Sans Light" panose="00000400000000000000" pitchFamily="2" charset="0"/>
                <a:ea typeface="Open Sauce Light"/>
                <a:cs typeface="Open Sauce Light"/>
                <a:sym typeface="Open Sauce Light"/>
              </a:rPr>
              <a:t>参与朋友们的活动对我来说意味着被接纳和认可</a:t>
            </a:r>
            <a:endParaRPr lang="en-US" sz="2400" spc="-23" dirty="0">
              <a:solidFill>
                <a:srgbClr val="1F191A"/>
              </a:solidFill>
              <a:latin typeface="Open Sauce Sans Light" panose="00000400000000000000" pitchFamily="2" charset="0"/>
              <a:ea typeface="Open Sauce Light"/>
              <a:cs typeface="Open Sauce Light"/>
              <a:sym typeface="Open Sauce Light"/>
            </a:endParaRPr>
          </a:p>
        </p:txBody>
      </p:sp>
      <p:sp>
        <p:nvSpPr>
          <p:cNvPr id="19" name="TextBox 8"/>
          <p:cNvSpPr txBox="1"/>
          <p:nvPr/>
        </p:nvSpPr>
        <p:spPr>
          <a:xfrm>
            <a:off x="1143635" y="3390642"/>
            <a:ext cx="6845298" cy="984885"/>
          </a:xfrm>
          <a:prstGeom prst="rect">
            <a:avLst/>
          </a:prstGeom>
        </p:spPr>
        <p:txBody>
          <a:bodyPr lIns="0" tIns="0" rIns="0" bIns="0" rtlCol="0" anchor="t">
            <a:spAutoFit/>
          </a:bodyPr>
          <a:lstStyle/>
          <a:p>
            <a:pPr marL="0" lvl="0" indent="0" algn="l">
              <a:lnSpc>
                <a:spcPts val="3840"/>
              </a:lnSpc>
            </a:pPr>
            <a:r>
              <a:rPr lang="zh-CN" altLang="en-US" sz="3200" b="1" spc="-32" dirty="0">
                <a:solidFill>
                  <a:srgbClr val="1F191A"/>
                </a:solidFill>
                <a:latin typeface="Open Sauce Sans" panose="00000800000000000000" pitchFamily="2" charset="0"/>
                <a:ea typeface="Open Sauce Bold"/>
                <a:cs typeface="Open Sauce Bold"/>
                <a:sym typeface="Open Sauce Bold"/>
              </a:rPr>
              <a:t>测量大学生因归属需要、社交认同等心理动机而产生的</a:t>
            </a:r>
            <a:r>
              <a:rPr lang="en-US" altLang="zh-CN" sz="3200" b="1" spc="-32" dirty="0">
                <a:solidFill>
                  <a:srgbClr val="1F191A"/>
                </a:solidFill>
                <a:latin typeface="Open Sauce Sans" panose="00000800000000000000" pitchFamily="2" charset="0"/>
                <a:ea typeface="Open Sauce Bold"/>
                <a:cs typeface="Open Sauce Bold"/>
                <a:sym typeface="Open Sauce Bold"/>
              </a:rPr>
              <a:t>FoMO</a:t>
            </a:r>
            <a:r>
              <a:rPr lang="zh-CN" altLang="en-US" sz="3200" b="1" spc="-32" dirty="0">
                <a:solidFill>
                  <a:srgbClr val="1F191A"/>
                </a:solidFill>
                <a:latin typeface="Open Sauce Sans" panose="00000800000000000000" pitchFamily="2" charset="0"/>
                <a:ea typeface="Open Sauce Bold"/>
                <a:cs typeface="Open Sauce Bold"/>
                <a:sym typeface="Open Sauce Bold"/>
              </a:rPr>
              <a:t>倾向。</a:t>
            </a:r>
            <a:endParaRPr lang="zh-CN" altLang="en-US" sz="3200" b="1" spc="-32" dirty="0">
              <a:solidFill>
                <a:srgbClr val="1F191A"/>
              </a:solidFill>
              <a:latin typeface="Open Sauce Sans" panose="00000800000000000000" pitchFamily="2" charset="0"/>
              <a:ea typeface="Open Sauce Bold"/>
              <a:cs typeface="Open Sauce Bold"/>
              <a:sym typeface="Open Sauce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sp>
        <p:nvSpPr>
          <p:cNvPr id="2" name="TextBox 2"/>
          <p:cNvSpPr txBox="1"/>
          <p:nvPr/>
        </p:nvSpPr>
        <p:spPr>
          <a:xfrm>
            <a:off x="1028700" y="1209675"/>
            <a:ext cx="8578850" cy="3760470"/>
          </a:xfrm>
          <a:prstGeom prst="rect">
            <a:avLst/>
          </a:prstGeom>
        </p:spPr>
        <p:txBody>
          <a:bodyPr wrap="square" lIns="0" tIns="0" rIns="0" bIns="0" rtlCol="0" anchor="t">
            <a:spAutoFit/>
          </a:bodyPr>
          <a:lstStyle/>
          <a:p>
            <a:pPr marL="0" lvl="0" indent="0" algn="l">
              <a:lnSpc>
                <a:spcPts val="9775"/>
              </a:lnSpc>
              <a:spcBef>
                <a:spcPct val="0"/>
              </a:spcBef>
            </a:pPr>
            <a:r>
              <a:rPr lang="zh-CN" altLang="en-US" sz="9775" u="none" strike="noStrike" spc="-293">
                <a:solidFill>
                  <a:srgbClr val="1F191A"/>
                </a:solidFill>
                <a:latin typeface="Aileron Bold" panose="00000800000000000000"/>
                <a:ea typeface="Aileron Bold" panose="00000800000000000000"/>
                <a:cs typeface="Aileron Bold" panose="00000800000000000000"/>
                <a:sym typeface="Aileron"/>
              </a:rPr>
              <a:t>错失认知（</a:t>
            </a:r>
            <a:r>
              <a:rPr lang="en-US" altLang="zh-CN" sz="9775" u="none" strike="noStrike" spc="-293">
                <a:solidFill>
                  <a:srgbClr val="1F191A"/>
                </a:solidFill>
                <a:latin typeface="Aileron Bold" panose="00000800000000000000"/>
                <a:ea typeface="Aileron Bold" panose="00000800000000000000"/>
                <a:cs typeface="Aileron Bold" panose="00000800000000000000"/>
                <a:sym typeface="Aileron"/>
              </a:rPr>
              <a:t>Missing Cognition</a:t>
            </a:r>
            <a:r>
              <a:rPr lang="zh-CN" altLang="en-US" sz="9775" u="none" strike="noStrike" spc="-293">
                <a:solidFill>
                  <a:srgbClr val="1F191A"/>
                </a:solidFill>
                <a:latin typeface="Aileron Bold" panose="00000800000000000000"/>
                <a:ea typeface="Aileron Bold" panose="00000800000000000000"/>
                <a:cs typeface="Aileron Bold" panose="00000800000000000000"/>
                <a:sym typeface="Aileron"/>
              </a:rPr>
              <a:t>）</a:t>
            </a:r>
            <a:endParaRPr lang="zh-CN" altLang="en-US" sz="9775" u="none" strike="noStrike" spc="-293">
              <a:solidFill>
                <a:srgbClr val="1F191A"/>
              </a:solidFill>
              <a:latin typeface="Aileron Bold" panose="00000800000000000000"/>
              <a:ea typeface="Aileron Bold" panose="00000800000000000000"/>
              <a:cs typeface="Aileron Bold" panose="00000800000000000000"/>
              <a:sym typeface="Aileron"/>
            </a:endParaRPr>
          </a:p>
        </p:txBody>
      </p:sp>
      <p:grpSp>
        <p:nvGrpSpPr>
          <p:cNvPr id="3" name="Group 3"/>
          <p:cNvGrpSpPr/>
          <p:nvPr/>
        </p:nvGrpSpPr>
        <p:grpSpPr>
          <a:xfrm>
            <a:off x="6980897" y="4333805"/>
            <a:ext cx="3570283" cy="357028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6843"/>
            </a:solidFill>
          </p:spPr>
          <p:txBody>
            <a:bodyPr/>
            <a:lstStyle/>
            <a:p>
              <a:endParaRPr lang="zh-CN" altLang="en-US"/>
            </a:p>
          </p:txBody>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360"/>
                </a:lnSpc>
              </a:pPr>
            </a:p>
          </p:txBody>
        </p:sp>
      </p:grpSp>
      <p:sp>
        <p:nvSpPr>
          <p:cNvPr id="6" name="Freeform 6"/>
          <p:cNvSpPr/>
          <p:nvPr/>
        </p:nvSpPr>
        <p:spPr>
          <a:xfrm flipH="1">
            <a:off x="9051788" y="4333805"/>
            <a:ext cx="7011414" cy="5097882"/>
          </a:xfrm>
          <a:custGeom>
            <a:avLst/>
            <a:gdLst/>
            <a:ahLst/>
            <a:cxnLst/>
            <a:rect l="l" t="t" r="r" b="b"/>
            <a:pathLst>
              <a:path w="7011414" h="5097882">
                <a:moveTo>
                  <a:pt x="7011414" y="0"/>
                </a:moveTo>
                <a:lnTo>
                  <a:pt x="0" y="0"/>
                </a:lnTo>
                <a:lnTo>
                  <a:pt x="0" y="5097882"/>
                </a:lnTo>
                <a:lnTo>
                  <a:pt x="7011414" y="5097882"/>
                </a:lnTo>
                <a:lnTo>
                  <a:pt x="7011414" y="0"/>
                </a:lnTo>
                <a:close/>
              </a:path>
            </a:pathLst>
          </a:custGeom>
          <a:blipFill>
            <a:blip r:embed="rId1"/>
            <a:stretch>
              <a:fillRect/>
            </a:stretch>
          </a:blipFill>
        </p:spPr>
        <p:txBody>
          <a:bodyPr/>
          <a:lstStyle/>
          <a:p>
            <a:endParaRPr lang="zh-CN" altLang="en-US"/>
          </a:p>
        </p:txBody>
      </p:sp>
      <p:sp>
        <p:nvSpPr>
          <p:cNvPr id="9" name="TextBox 9"/>
          <p:cNvSpPr txBox="1"/>
          <p:nvPr/>
        </p:nvSpPr>
        <p:spPr>
          <a:xfrm>
            <a:off x="9678035" y="1333500"/>
            <a:ext cx="7517130" cy="2764790"/>
          </a:xfrm>
          <a:prstGeom prst="rect">
            <a:avLst/>
          </a:prstGeom>
        </p:spPr>
        <p:txBody>
          <a:bodyPr wrap="square" lIns="0" tIns="0" rIns="0" bIns="0" rtlCol="0" anchor="t">
            <a:spAutoFit/>
          </a:bodyPr>
          <a:lstStyle/>
          <a:p>
            <a:pPr marL="0" lvl="0" indent="0" algn="l">
              <a:lnSpc>
                <a:spcPts val="3080"/>
              </a:lnSpc>
              <a:spcBef>
                <a:spcPct val="0"/>
              </a:spcBef>
            </a:pPr>
            <a:r>
              <a:rPr lang="en-US" altLang="zh-CN" sz="2200" spc="-21" dirty="0">
                <a:solidFill>
                  <a:srgbClr val="1F191A"/>
                </a:solidFill>
                <a:latin typeface="Open Sauce Sans Light" panose="00000400000000000000" pitchFamily="2" charset="0"/>
                <a:ea typeface="Open Sauce Light"/>
                <a:cs typeface="Open Sauce Light"/>
                <a:sym typeface="Open Sauce Light"/>
              </a:rPr>
              <a:t>C1 </a:t>
            </a:r>
            <a:r>
              <a:rPr lang="zh-CN" altLang="en-US" sz="2200" spc="-21" dirty="0">
                <a:solidFill>
                  <a:srgbClr val="1F191A"/>
                </a:solidFill>
                <a:latin typeface="Open Sauce Sans Light" panose="00000400000000000000" pitchFamily="2" charset="0"/>
                <a:ea typeface="Open Sauce Light"/>
                <a:cs typeface="Open Sauce Light"/>
                <a:sym typeface="Open Sauce Light"/>
              </a:rPr>
              <a:t>当我刷到朋友们在朋友圈</a:t>
            </a:r>
            <a:r>
              <a:rPr lang="en-US" altLang="zh-CN" sz="2200" spc="-21" dirty="0">
                <a:solidFill>
                  <a:srgbClr val="1F191A"/>
                </a:solidFill>
                <a:latin typeface="Open Sauce Sans Light" panose="00000400000000000000" pitchFamily="2" charset="0"/>
                <a:ea typeface="Open Sauce Light"/>
                <a:cs typeface="Open Sauce Light"/>
                <a:sym typeface="Open Sauce Light"/>
              </a:rPr>
              <a:t>/</a:t>
            </a:r>
            <a:r>
              <a:rPr lang="zh-CN" altLang="en-US" sz="2200" spc="-21" dirty="0">
                <a:solidFill>
                  <a:srgbClr val="1F191A"/>
                </a:solidFill>
                <a:latin typeface="Open Sauce Sans Light" panose="00000400000000000000" pitchFamily="2" charset="0"/>
                <a:ea typeface="Open Sauce Light"/>
                <a:cs typeface="Open Sauce Light"/>
                <a:sym typeface="Open Sauce Light"/>
              </a:rPr>
              <a:t>社交媒体上发布的信息，我觉得别人的生活比我精彩得多</a:t>
            </a:r>
            <a:endParaRPr lang="zh-CN" altLang="en-US" sz="2200" spc="-21" dirty="0">
              <a:solidFill>
                <a:srgbClr val="1F191A"/>
              </a:solidFill>
              <a:latin typeface="Open Sauce Sans Light" panose="00000400000000000000" pitchFamily="2" charset="0"/>
              <a:ea typeface="Open Sauce Light"/>
              <a:cs typeface="Open Sauce Light"/>
              <a:sym typeface="Open Sauce Light"/>
            </a:endParaRPr>
          </a:p>
          <a:p>
            <a:pPr marL="0" lvl="0" indent="0" algn="l">
              <a:lnSpc>
                <a:spcPts val="3080"/>
              </a:lnSpc>
              <a:spcBef>
                <a:spcPct val="0"/>
              </a:spcBef>
            </a:pPr>
            <a:r>
              <a:rPr lang="en-US" altLang="zh-CN" sz="2200" spc="-21" dirty="0">
                <a:solidFill>
                  <a:srgbClr val="1F191A"/>
                </a:solidFill>
                <a:latin typeface="Open Sauce Sans Light" panose="00000400000000000000" pitchFamily="2" charset="0"/>
                <a:ea typeface="Open Sauce Light"/>
                <a:cs typeface="Open Sauce Light"/>
                <a:sym typeface="Open Sauce Light"/>
              </a:rPr>
              <a:t>C2 </a:t>
            </a:r>
            <a:r>
              <a:rPr lang="zh-CN" altLang="en-US" sz="2200" spc="-21" dirty="0">
                <a:solidFill>
                  <a:srgbClr val="1F191A"/>
                </a:solidFill>
                <a:latin typeface="Open Sauce Sans Light" panose="00000400000000000000" pitchFamily="2" charset="0"/>
                <a:ea typeface="Open Sauce Light"/>
                <a:cs typeface="Open Sauce Light"/>
                <a:sym typeface="Open Sauce Light"/>
              </a:rPr>
              <a:t>看到好友发了</a:t>
            </a:r>
            <a:r>
              <a:rPr lang="en-US" altLang="zh-CN" sz="2200" spc="-21" dirty="0">
                <a:solidFill>
                  <a:srgbClr val="1F191A"/>
                </a:solidFill>
                <a:latin typeface="Open Sauce Sans Light" panose="00000400000000000000" pitchFamily="2" charset="0"/>
                <a:ea typeface="Open Sauce Light"/>
                <a:cs typeface="Open Sauce Light"/>
                <a:sym typeface="Open Sauce Light"/>
              </a:rPr>
              <a:t>ta</a:t>
            </a:r>
            <a:r>
              <a:rPr lang="zh-CN" altLang="en-US" sz="2200" spc="-21" dirty="0">
                <a:solidFill>
                  <a:srgbClr val="1F191A"/>
                </a:solidFill>
                <a:latin typeface="Open Sauce Sans Light" panose="00000400000000000000" pitchFamily="2" charset="0"/>
                <a:ea typeface="Open Sauce Light"/>
                <a:cs typeface="Open Sauce Light"/>
                <a:sym typeface="Open Sauce Light"/>
              </a:rPr>
              <a:t>们的合照，我担心朋友们在我不在场时获得了更好的体验</a:t>
            </a:r>
            <a:endParaRPr lang="zh-CN" altLang="en-US" sz="2200" spc="-21" dirty="0">
              <a:solidFill>
                <a:srgbClr val="1F191A"/>
              </a:solidFill>
              <a:latin typeface="Open Sauce Sans Light" panose="00000400000000000000" pitchFamily="2" charset="0"/>
              <a:ea typeface="Open Sauce Light"/>
              <a:cs typeface="Open Sauce Light"/>
              <a:sym typeface="Open Sauce Light"/>
            </a:endParaRPr>
          </a:p>
          <a:p>
            <a:pPr marL="0" lvl="0" indent="0" algn="l">
              <a:lnSpc>
                <a:spcPts val="3080"/>
              </a:lnSpc>
              <a:spcBef>
                <a:spcPct val="0"/>
              </a:spcBef>
            </a:pPr>
            <a:r>
              <a:rPr lang="en-US" altLang="zh-CN" sz="2200" spc="-21" dirty="0">
                <a:solidFill>
                  <a:srgbClr val="1F191A"/>
                </a:solidFill>
                <a:latin typeface="Open Sauce Sans Light" panose="00000400000000000000" pitchFamily="2" charset="0"/>
                <a:ea typeface="Open Sauce Light"/>
                <a:cs typeface="Open Sauce Light"/>
                <a:sym typeface="Open Sauce Light"/>
              </a:rPr>
              <a:t>C3 </a:t>
            </a:r>
            <a:r>
              <a:rPr lang="zh-CN" altLang="en-US" sz="2200" spc="-21" dirty="0">
                <a:solidFill>
                  <a:srgbClr val="1F191A"/>
                </a:solidFill>
                <a:latin typeface="Open Sauce Sans Light" panose="00000400000000000000" pitchFamily="2" charset="0"/>
                <a:ea typeface="Open Sauce Light"/>
                <a:cs typeface="Open Sauce Light"/>
                <a:sym typeface="Open Sauce Light"/>
              </a:rPr>
              <a:t>当我看到朋友们刷到朋友们在朋友圈</a:t>
            </a:r>
            <a:r>
              <a:rPr lang="en-US" altLang="zh-CN" sz="2200" spc="-21" dirty="0">
                <a:solidFill>
                  <a:srgbClr val="1F191A"/>
                </a:solidFill>
                <a:latin typeface="Open Sauce Sans Light" panose="00000400000000000000" pitchFamily="2" charset="0"/>
                <a:ea typeface="Open Sauce Light"/>
                <a:cs typeface="Open Sauce Light"/>
                <a:sym typeface="Open Sauce Light"/>
              </a:rPr>
              <a:t>/</a:t>
            </a:r>
            <a:r>
              <a:rPr lang="zh-CN" altLang="en-US" sz="2200" spc="-21" dirty="0">
                <a:solidFill>
                  <a:srgbClr val="1F191A"/>
                </a:solidFill>
                <a:latin typeface="Open Sauce Sans Light" panose="00000400000000000000" pitchFamily="2" charset="0"/>
                <a:ea typeface="Open Sauce Light"/>
                <a:cs typeface="Open Sauce Light"/>
                <a:sym typeface="Open Sauce Light"/>
              </a:rPr>
              <a:t>社交媒体上分享的快乐时光时，会不自觉地拿自己和他们的生活作比较</a:t>
            </a:r>
            <a:endParaRPr lang="zh-CN" altLang="en-US" sz="2200" spc="-21" dirty="0">
              <a:solidFill>
                <a:srgbClr val="1F191A"/>
              </a:solidFill>
              <a:latin typeface="Open Sauce Sans Light" panose="00000400000000000000" pitchFamily="2" charset="0"/>
              <a:ea typeface="Open Sauce Light"/>
              <a:cs typeface="Open Sauce Light"/>
              <a:sym typeface="Open Sauce Light"/>
            </a:endParaRPr>
          </a:p>
          <a:p>
            <a:pPr marL="0" lvl="0" indent="0" algn="l">
              <a:lnSpc>
                <a:spcPts val="3080"/>
              </a:lnSpc>
              <a:spcBef>
                <a:spcPct val="0"/>
              </a:spcBef>
            </a:pPr>
            <a:r>
              <a:rPr lang="en-US" altLang="zh-CN" sz="2200" spc="-21" dirty="0">
                <a:solidFill>
                  <a:srgbClr val="1F191A"/>
                </a:solidFill>
                <a:latin typeface="Open Sauce Sans Light" panose="00000400000000000000" pitchFamily="2" charset="0"/>
                <a:ea typeface="Open Sauce Light"/>
                <a:cs typeface="Open Sauce Light"/>
                <a:sym typeface="Open Sauce Light"/>
              </a:rPr>
              <a:t>C4 </a:t>
            </a:r>
            <a:r>
              <a:rPr lang="zh-CN" altLang="en-US" sz="2200" spc="-21" dirty="0">
                <a:solidFill>
                  <a:srgbClr val="1F191A"/>
                </a:solidFill>
                <a:latin typeface="Open Sauce Sans Light" panose="00000400000000000000" pitchFamily="2" charset="0"/>
                <a:ea typeface="Open Sauce Light"/>
                <a:cs typeface="Open Sauce Light"/>
                <a:sym typeface="Open Sauce Light"/>
              </a:rPr>
              <a:t>我认为自己经常错过一些很重要的社交机会</a:t>
            </a:r>
            <a:endParaRPr lang="zh-CN" altLang="en-US" sz="2200" spc="-21" dirty="0">
              <a:solidFill>
                <a:srgbClr val="1F191A"/>
              </a:solidFill>
              <a:latin typeface="Open Sauce Sans Light" panose="00000400000000000000" pitchFamily="2" charset="0"/>
              <a:ea typeface="Open Sauce Light"/>
              <a:cs typeface="Open Sauce Light"/>
              <a:sym typeface="Open Sauce Light"/>
            </a:endParaRPr>
          </a:p>
        </p:txBody>
      </p:sp>
      <p:sp>
        <p:nvSpPr>
          <p:cNvPr id="11" name="AutoShape 11"/>
          <p:cNvSpPr/>
          <p:nvPr/>
        </p:nvSpPr>
        <p:spPr>
          <a:xfrm flipV="1">
            <a:off x="1028700" y="5620775"/>
            <a:ext cx="1026642" cy="0"/>
          </a:xfrm>
          <a:prstGeom prst="line">
            <a:avLst/>
          </a:prstGeom>
          <a:ln w="28575" cap="flat">
            <a:solidFill>
              <a:srgbClr val="000000"/>
            </a:solidFill>
            <a:prstDash val="solid"/>
            <a:headEnd type="none" w="sm" len="sm"/>
            <a:tailEnd type="none" w="sm" len="sm"/>
          </a:ln>
        </p:spPr>
        <p:txBody>
          <a:bodyPr/>
          <a:lstStyle/>
          <a:p>
            <a:endParaRPr lang="zh-CN" altLang="en-US"/>
          </a:p>
        </p:txBody>
      </p:sp>
      <p:sp>
        <p:nvSpPr>
          <p:cNvPr id="12" name="AutoShape 12"/>
          <p:cNvSpPr/>
          <p:nvPr/>
        </p:nvSpPr>
        <p:spPr>
          <a:xfrm flipV="1">
            <a:off x="16232658" y="5157787"/>
            <a:ext cx="1026642" cy="0"/>
          </a:xfrm>
          <a:prstGeom prst="line">
            <a:avLst/>
          </a:prstGeom>
          <a:ln w="28575" cap="flat">
            <a:solidFill>
              <a:srgbClr val="000000"/>
            </a:solidFill>
            <a:prstDash val="solid"/>
            <a:headEnd type="none" w="sm" len="sm"/>
            <a:tailEnd type="none" w="sm" len="sm"/>
          </a:ln>
        </p:spPr>
        <p:txBody>
          <a:bodyPr/>
          <a:lstStyle/>
          <a:p>
            <a:endParaRPr lang="zh-CN" altLang="en-US"/>
          </a:p>
        </p:txBody>
      </p:sp>
      <p:sp>
        <p:nvSpPr>
          <p:cNvPr id="19" name="TextBox 8"/>
          <p:cNvSpPr txBox="1"/>
          <p:nvPr/>
        </p:nvSpPr>
        <p:spPr>
          <a:xfrm>
            <a:off x="762635" y="6895842"/>
            <a:ext cx="6845298" cy="984885"/>
          </a:xfrm>
          <a:prstGeom prst="rect">
            <a:avLst/>
          </a:prstGeom>
        </p:spPr>
        <p:txBody>
          <a:bodyPr lIns="0" tIns="0" rIns="0" bIns="0" rtlCol="0" anchor="t">
            <a:spAutoFit/>
          </a:bodyPr>
          <a:lstStyle/>
          <a:p>
            <a:pPr marL="0" lvl="0" indent="0" algn="l">
              <a:lnSpc>
                <a:spcPts val="3840"/>
              </a:lnSpc>
            </a:pPr>
            <a:r>
              <a:rPr lang="zh-CN" altLang="en-US" sz="3200" b="1" spc="-32" dirty="0">
                <a:solidFill>
                  <a:schemeClr val="tx1"/>
                </a:solidFill>
                <a:latin typeface="Open Sauce Sans" panose="00000800000000000000" pitchFamily="2" charset="0"/>
                <a:ea typeface="Open Sauce Bold"/>
                <a:cs typeface="Open Sauce Bold"/>
                <a:sym typeface="Open Sauce Bold"/>
              </a:rPr>
              <a:t>测量大学生关于</a:t>
            </a:r>
            <a:r>
              <a:rPr lang="en-US" altLang="zh-CN" sz="3200" b="1" spc="-32" dirty="0">
                <a:solidFill>
                  <a:schemeClr val="tx1"/>
                </a:solidFill>
                <a:latin typeface="Open Sauce Sans" panose="00000800000000000000" pitchFamily="2" charset="0"/>
                <a:ea typeface="Open Sauce Bold"/>
                <a:cs typeface="Open Sauce Bold"/>
                <a:sym typeface="Open Sauce Bold"/>
              </a:rPr>
              <a:t>“</a:t>
            </a:r>
            <a:r>
              <a:rPr lang="zh-CN" altLang="en-US" sz="3200" b="1" spc="-32" dirty="0">
                <a:solidFill>
                  <a:schemeClr val="tx1"/>
                </a:solidFill>
                <a:latin typeface="Open Sauce Sans" panose="00000800000000000000" pitchFamily="2" charset="0"/>
                <a:ea typeface="Open Sauce Bold"/>
                <a:cs typeface="Open Sauce Bold"/>
                <a:sym typeface="Open Sauce Bold"/>
              </a:rPr>
              <a:t>他人有更好体验</a:t>
            </a:r>
            <a:r>
              <a:rPr lang="en-US" altLang="zh-CN" sz="3200" b="1" spc="-32" dirty="0">
                <a:solidFill>
                  <a:schemeClr val="tx1"/>
                </a:solidFill>
                <a:latin typeface="Open Sauce Sans" panose="00000800000000000000" pitchFamily="2" charset="0"/>
                <a:ea typeface="Open Sauce Bold"/>
                <a:cs typeface="Open Sauce Bold"/>
                <a:sym typeface="Open Sauce Bold"/>
              </a:rPr>
              <a:t>”</a:t>
            </a:r>
            <a:r>
              <a:rPr lang="zh-CN" altLang="en-US" sz="3200" b="1" spc="-32" dirty="0">
                <a:solidFill>
                  <a:schemeClr val="tx1"/>
                </a:solidFill>
                <a:latin typeface="Open Sauce Sans" panose="00000800000000000000" pitchFamily="2" charset="0"/>
                <a:ea typeface="Open Sauce Bold"/>
                <a:cs typeface="Open Sauce Bold"/>
                <a:sym typeface="Open Sauce Bold"/>
              </a:rPr>
              <a:t>的非理性信念和上行社会比较倾向。</a:t>
            </a:r>
            <a:endParaRPr lang="zh-CN" altLang="en-US" sz="3200" b="1" spc="-32" dirty="0">
              <a:solidFill>
                <a:schemeClr val="tx1"/>
              </a:solidFill>
              <a:latin typeface="Open Sauce Sans" panose="00000800000000000000" pitchFamily="2" charset="0"/>
              <a:ea typeface="Open Sauce Bold"/>
              <a:cs typeface="Open Sauce Bold"/>
              <a:sym typeface="Open Sauce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grpSp>
        <p:nvGrpSpPr>
          <p:cNvPr id="2" name="Group 2"/>
          <p:cNvGrpSpPr/>
          <p:nvPr/>
        </p:nvGrpSpPr>
        <p:grpSpPr>
          <a:xfrm>
            <a:off x="8237376" y="6772863"/>
            <a:ext cx="8533765" cy="1948054"/>
            <a:chOff x="0" y="0"/>
            <a:chExt cx="2247576" cy="513068"/>
          </a:xfrm>
        </p:grpSpPr>
        <p:sp>
          <p:nvSpPr>
            <p:cNvPr id="3" name="Freeform 3"/>
            <p:cNvSpPr/>
            <p:nvPr/>
          </p:nvSpPr>
          <p:spPr>
            <a:xfrm>
              <a:off x="0" y="0"/>
              <a:ext cx="2247576" cy="513068"/>
            </a:xfrm>
            <a:custGeom>
              <a:avLst/>
              <a:gdLst/>
              <a:ahLst/>
              <a:cxnLst/>
              <a:rect l="l" t="t" r="r" b="b"/>
              <a:pathLst>
                <a:path w="2247576" h="513068">
                  <a:moveTo>
                    <a:pt x="1123788" y="0"/>
                  </a:moveTo>
                  <a:cubicBezTo>
                    <a:pt x="503137" y="0"/>
                    <a:pt x="0" y="114854"/>
                    <a:pt x="0" y="256534"/>
                  </a:cubicBezTo>
                  <a:cubicBezTo>
                    <a:pt x="0" y="398214"/>
                    <a:pt x="503137" y="513068"/>
                    <a:pt x="1123788" y="513068"/>
                  </a:cubicBezTo>
                  <a:cubicBezTo>
                    <a:pt x="1744439" y="513068"/>
                    <a:pt x="2247576" y="398214"/>
                    <a:pt x="2247576" y="256534"/>
                  </a:cubicBezTo>
                  <a:cubicBezTo>
                    <a:pt x="2247576" y="114854"/>
                    <a:pt x="1744439" y="0"/>
                    <a:pt x="1123788" y="0"/>
                  </a:cubicBezTo>
                  <a:close/>
                </a:path>
              </a:pathLst>
            </a:custGeom>
            <a:solidFill>
              <a:srgbClr val="F26843"/>
            </a:solidFill>
          </p:spPr>
          <p:txBody>
            <a:bodyPr/>
            <a:lstStyle/>
            <a:p>
              <a:endParaRPr lang="zh-CN" altLang="en-US"/>
            </a:p>
          </p:txBody>
        </p:sp>
        <p:sp>
          <p:nvSpPr>
            <p:cNvPr id="4" name="TextBox 4"/>
            <p:cNvSpPr txBox="1"/>
            <p:nvPr/>
          </p:nvSpPr>
          <p:spPr>
            <a:xfrm>
              <a:off x="210710" y="475"/>
              <a:ext cx="1826155" cy="464493"/>
            </a:xfrm>
            <a:prstGeom prst="rect">
              <a:avLst/>
            </a:prstGeom>
          </p:spPr>
          <p:txBody>
            <a:bodyPr lIns="50800" tIns="50800" rIns="50800" bIns="50800" rtlCol="0" anchor="ctr"/>
            <a:lstStyle/>
            <a:p>
              <a:pPr algn="ctr">
                <a:lnSpc>
                  <a:spcPts val="3360"/>
                </a:lnSpc>
              </a:pPr>
            </a:p>
          </p:txBody>
        </p:sp>
      </p:grpSp>
      <p:sp>
        <p:nvSpPr>
          <p:cNvPr id="5" name="Freeform 5"/>
          <p:cNvSpPr/>
          <p:nvPr/>
        </p:nvSpPr>
        <p:spPr>
          <a:xfrm>
            <a:off x="7815683" y="4296950"/>
            <a:ext cx="9424567" cy="4951825"/>
          </a:xfrm>
          <a:custGeom>
            <a:avLst/>
            <a:gdLst/>
            <a:ahLst/>
            <a:cxnLst/>
            <a:rect l="l" t="t" r="r" b="b"/>
            <a:pathLst>
              <a:path w="9424567" h="4951825">
                <a:moveTo>
                  <a:pt x="0" y="0"/>
                </a:moveTo>
                <a:lnTo>
                  <a:pt x="9424567" y="0"/>
                </a:lnTo>
                <a:lnTo>
                  <a:pt x="9424567" y="4951825"/>
                </a:lnTo>
                <a:lnTo>
                  <a:pt x="0" y="4951825"/>
                </a:lnTo>
                <a:lnTo>
                  <a:pt x="0" y="0"/>
                </a:lnTo>
                <a:close/>
              </a:path>
            </a:pathLst>
          </a:custGeom>
          <a:blipFill>
            <a:blip r:embed="rId1"/>
            <a:stretch>
              <a:fillRect/>
            </a:stretch>
          </a:blipFill>
        </p:spPr>
        <p:txBody>
          <a:bodyPr/>
          <a:lstStyle/>
          <a:p>
            <a:endParaRPr lang="zh-CN" altLang="en-US"/>
          </a:p>
        </p:txBody>
      </p:sp>
      <p:sp>
        <p:nvSpPr>
          <p:cNvPr id="6" name="TextBox 6"/>
          <p:cNvSpPr txBox="1"/>
          <p:nvPr/>
        </p:nvSpPr>
        <p:spPr>
          <a:xfrm>
            <a:off x="1255244" y="1304925"/>
            <a:ext cx="7250009" cy="3760470"/>
          </a:xfrm>
          <a:prstGeom prst="rect">
            <a:avLst/>
          </a:prstGeom>
        </p:spPr>
        <p:txBody>
          <a:bodyPr lIns="0" tIns="0" rIns="0" bIns="0" rtlCol="0" anchor="t">
            <a:spAutoFit/>
          </a:bodyPr>
          <a:lstStyle/>
          <a:p>
            <a:pPr marL="0" lvl="0" indent="0" algn="l">
              <a:lnSpc>
                <a:spcPts val="9775"/>
              </a:lnSpc>
              <a:spcBef>
                <a:spcPct val="0"/>
              </a:spcBef>
            </a:pPr>
            <a:r>
              <a:rPr lang="zh-CN" altLang="en-US" sz="9775" b="1" u="none" strike="noStrike" spc="-293">
                <a:solidFill>
                  <a:srgbClr val="EF4434"/>
                </a:solidFill>
                <a:latin typeface="Aileron Bold" panose="00000800000000000000"/>
                <a:ea typeface="Aileron Bold" panose="00000800000000000000"/>
                <a:cs typeface="Aileron Bold" panose="00000800000000000000"/>
                <a:sym typeface="Aileron Bold" panose="00000800000000000000"/>
              </a:rPr>
              <a:t>错失情绪（</a:t>
            </a:r>
            <a:r>
              <a:rPr lang="en-US" altLang="zh-CN" sz="9775" b="1" u="none" strike="noStrike" spc="-293">
                <a:solidFill>
                  <a:srgbClr val="EF4434"/>
                </a:solidFill>
                <a:latin typeface="Aileron Bold" panose="00000800000000000000"/>
                <a:ea typeface="Aileron Bold" panose="00000800000000000000"/>
                <a:cs typeface="Aileron Bold" panose="00000800000000000000"/>
                <a:sym typeface="Aileron Bold" panose="00000800000000000000"/>
              </a:rPr>
              <a:t>Missing Emotion</a:t>
            </a:r>
            <a:r>
              <a:rPr lang="zh-CN" altLang="en-US" sz="9775" b="1" u="none" strike="noStrike" spc="-293">
                <a:solidFill>
                  <a:srgbClr val="EF4434"/>
                </a:solidFill>
                <a:latin typeface="Aileron Bold" panose="00000800000000000000"/>
                <a:ea typeface="Aileron Bold" panose="00000800000000000000"/>
                <a:cs typeface="Aileron Bold" panose="00000800000000000000"/>
                <a:sym typeface="Aileron Bold" panose="00000800000000000000"/>
              </a:rPr>
              <a:t>）</a:t>
            </a:r>
            <a:endParaRPr lang="zh-CN" altLang="en-US" sz="9775" b="1" u="none" strike="noStrike" spc="-293">
              <a:solidFill>
                <a:srgbClr val="EF4434"/>
              </a:solidFill>
              <a:latin typeface="Aileron Bold" panose="00000800000000000000"/>
              <a:ea typeface="Aileron Bold" panose="00000800000000000000"/>
              <a:cs typeface="Aileron Bold" panose="00000800000000000000"/>
              <a:sym typeface="Aileron Bold" panose="00000800000000000000"/>
            </a:endParaRPr>
          </a:p>
        </p:txBody>
      </p:sp>
      <p:sp>
        <p:nvSpPr>
          <p:cNvPr id="7" name="TextBox 7"/>
          <p:cNvSpPr txBox="1"/>
          <p:nvPr/>
        </p:nvSpPr>
        <p:spPr>
          <a:xfrm>
            <a:off x="9220835" y="1257300"/>
            <a:ext cx="7840345" cy="2585085"/>
          </a:xfrm>
          <a:prstGeom prst="rect">
            <a:avLst/>
          </a:prstGeom>
        </p:spPr>
        <p:txBody>
          <a:bodyPr wrap="square" lIns="0" tIns="0" rIns="0" bIns="0" rtlCol="0" anchor="t">
            <a:spAutoFit/>
          </a:bodyPr>
          <a:lstStyle/>
          <a:p>
            <a:pPr algn="l">
              <a:lnSpc>
                <a:spcPts val="3360"/>
              </a:lnSpc>
            </a:pPr>
            <a:r>
              <a:rPr lang="en-US" altLang="zh-CN" sz="2400" spc="-23" dirty="0">
                <a:solidFill>
                  <a:srgbClr val="1F191A"/>
                </a:solidFill>
                <a:latin typeface="Open Sauce Sans Light" panose="00000400000000000000" pitchFamily="2" charset="0"/>
                <a:ea typeface="Open Sauce Light"/>
                <a:cs typeface="Open Sauce Light"/>
                <a:sym typeface="Open Sauce Light"/>
              </a:rPr>
              <a:t>E1 </a:t>
            </a:r>
            <a:r>
              <a:rPr lang="zh-CN" altLang="en-US" sz="2400" spc="-23" dirty="0">
                <a:solidFill>
                  <a:srgbClr val="1F191A"/>
                </a:solidFill>
                <a:latin typeface="Open Sauce Sans Light" panose="00000400000000000000" pitchFamily="2" charset="0"/>
                <a:ea typeface="Open Sauce Light"/>
                <a:cs typeface="Open Sauce Light"/>
                <a:sym typeface="Open Sauce Light"/>
              </a:rPr>
              <a:t>当我刷社交媒体时发现朋友们在我不在场的情况下玩得很开心时，我感到焦虑不安</a:t>
            </a:r>
            <a:endParaRPr lang="zh-CN" altLang="en-US" sz="2400" spc="-23" dirty="0">
              <a:solidFill>
                <a:srgbClr val="1F191A"/>
              </a:solidFill>
              <a:latin typeface="Open Sauce Sans Light" panose="00000400000000000000" pitchFamily="2" charset="0"/>
              <a:ea typeface="Open Sauce Light"/>
              <a:cs typeface="Open Sauce Light"/>
              <a:sym typeface="Open Sauce Light"/>
            </a:endParaRPr>
          </a:p>
          <a:p>
            <a:pPr algn="l">
              <a:lnSpc>
                <a:spcPts val="3360"/>
              </a:lnSpc>
            </a:pPr>
            <a:r>
              <a:rPr lang="en-US" altLang="zh-CN" sz="2400" spc="-23" dirty="0">
                <a:solidFill>
                  <a:srgbClr val="1F191A"/>
                </a:solidFill>
                <a:latin typeface="Open Sauce Sans Light" panose="00000400000000000000" pitchFamily="2" charset="0"/>
                <a:ea typeface="Open Sauce Light"/>
                <a:cs typeface="Open Sauce Light"/>
                <a:sym typeface="Open Sauce Light"/>
              </a:rPr>
              <a:t>E2 </a:t>
            </a:r>
            <a:r>
              <a:rPr lang="zh-CN" altLang="en-US" sz="2400" spc="-23" dirty="0">
                <a:solidFill>
                  <a:srgbClr val="1F191A"/>
                </a:solidFill>
                <a:latin typeface="Open Sauce Sans Light" panose="00000400000000000000" pitchFamily="2" charset="0"/>
                <a:ea typeface="Open Sauce Light"/>
                <a:cs typeface="Open Sauce Light"/>
                <a:sym typeface="Open Sauce Light"/>
              </a:rPr>
              <a:t>看到别人比我过得精彩，我心里会感到不舒服</a:t>
            </a:r>
            <a:endParaRPr lang="zh-CN" altLang="en-US" sz="2400" spc="-23" dirty="0">
              <a:solidFill>
                <a:srgbClr val="1F191A"/>
              </a:solidFill>
              <a:latin typeface="Open Sauce Sans Light" panose="00000400000000000000" pitchFamily="2" charset="0"/>
              <a:ea typeface="Open Sauce Light"/>
              <a:cs typeface="Open Sauce Light"/>
              <a:sym typeface="Open Sauce Light"/>
            </a:endParaRPr>
          </a:p>
          <a:p>
            <a:pPr algn="l">
              <a:lnSpc>
                <a:spcPts val="3360"/>
              </a:lnSpc>
            </a:pPr>
            <a:r>
              <a:rPr lang="en-US" altLang="zh-CN" sz="2400" spc="-23" dirty="0">
                <a:solidFill>
                  <a:srgbClr val="1F191A"/>
                </a:solidFill>
                <a:latin typeface="Open Sauce Sans Light" panose="00000400000000000000" pitchFamily="2" charset="0"/>
                <a:ea typeface="Open Sauce Light"/>
                <a:cs typeface="Open Sauce Light"/>
                <a:sym typeface="Open Sauce Light"/>
              </a:rPr>
              <a:t>E3 </a:t>
            </a:r>
            <a:r>
              <a:rPr lang="zh-CN" altLang="en-US" sz="2400" spc="-23" dirty="0">
                <a:solidFill>
                  <a:srgbClr val="1F191A"/>
                </a:solidFill>
                <a:latin typeface="Open Sauce Sans Light" panose="00000400000000000000" pitchFamily="2" charset="0"/>
                <a:ea typeface="Open Sauce Light"/>
                <a:cs typeface="Open Sauce Light"/>
                <a:sym typeface="Open Sauce Light"/>
              </a:rPr>
              <a:t>当我没有及时刷到朋友们的最新动态时，我会产生一种莫名的烦躁感</a:t>
            </a:r>
            <a:endParaRPr lang="zh-CN" altLang="en-US" sz="2400" spc="-23" dirty="0">
              <a:solidFill>
                <a:srgbClr val="1F191A"/>
              </a:solidFill>
              <a:latin typeface="Open Sauce Sans Light" panose="00000400000000000000" pitchFamily="2" charset="0"/>
              <a:ea typeface="Open Sauce Light"/>
              <a:cs typeface="Open Sauce Light"/>
              <a:sym typeface="Open Sauce Light"/>
            </a:endParaRPr>
          </a:p>
          <a:p>
            <a:pPr algn="l">
              <a:lnSpc>
                <a:spcPts val="3360"/>
              </a:lnSpc>
            </a:pPr>
            <a:r>
              <a:rPr lang="en-US" altLang="zh-CN" sz="2400" spc="-23" dirty="0">
                <a:solidFill>
                  <a:srgbClr val="1F191A"/>
                </a:solidFill>
                <a:latin typeface="Open Sauce Sans Light" panose="00000400000000000000" pitchFamily="2" charset="0"/>
                <a:ea typeface="Open Sauce Light"/>
                <a:cs typeface="Open Sauce Light"/>
                <a:sym typeface="Open Sauce Light"/>
              </a:rPr>
              <a:t>E4 </a:t>
            </a:r>
            <a:r>
              <a:rPr lang="zh-CN" altLang="en-US" sz="2400" spc="-23" dirty="0">
                <a:solidFill>
                  <a:srgbClr val="1F191A"/>
                </a:solidFill>
                <a:latin typeface="Open Sauce Sans Light" panose="00000400000000000000" pitchFamily="2" charset="0"/>
                <a:ea typeface="Open Sauce Light"/>
                <a:cs typeface="Open Sauce Light"/>
                <a:sym typeface="Open Sauce Light"/>
              </a:rPr>
              <a:t>错过与朋友们的重要信息后，我会持续感到后悔和失落</a:t>
            </a:r>
            <a:r>
              <a:rPr lang="en-US" sz="2400" spc="-23" dirty="0">
                <a:solidFill>
                  <a:srgbClr val="1F191A"/>
                </a:solidFill>
                <a:latin typeface="Open Sauce Sans Light" panose="00000400000000000000" pitchFamily="2" charset="0"/>
                <a:ea typeface="Open Sauce Light"/>
                <a:cs typeface="Open Sauce Light"/>
                <a:sym typeface="Open Sauce Light"/>
              </a:rPr>
              <a:t>.</a:t>
            </a:r>
            <a:endParaRPr lang="en-US" sz="2400" spc="-23" dirty="0">
              <a:solidFill>
                <a:srgbClr val="1F191A"/>
              </a:solidFill>
              <a:latin typeface="Open Sauce Sans Light" panose="00000400000000000000" pitchFamily="2" charset="0"/>
              <a:ea typeface="Open Sauce Light"/>
              <a:cs typeface="Open Sauce Light"/>
              <a:sym typeface="Open Sauce Light"/>
            </a:endParaRPr>
          </a:p>
        </p:txBody>
      </p:sp>
      <p:sp>
        <p:nvSpPr>
          <p:cNvPr id="19" name="TextBox 8"/>
          <p:cNvSpPr txBox="1"/>
          <p:nvPr/>
        </p:nvSpPr>
        <p:spPr>
          <a:xfrm>
            <a:off x="1255395" y="6895842"/>
            <a:ext cx="6845298" cy="984885"/>
          </a:xfrm>
          <a:prstGeom prst="rect">
            <a:avLst/>
          </a:prstGeom>
        </p:spPr>
        <p:txBody>
          <a:bodyPr lIns="0" tIns="0" rIns="0" bIns="0" rtlCol="0" anchor="t">
            <a:spAutoFit/>
          </a:bodyPr>
          <a:lstStyle/>
          <a:p>
            <a:pPr marL="0" lvl="0" indent="0" algn="l">
              <a:lnSpc>
                <a:spcPts val="3840"/>
              </a:lnSpc>
            </a:pPr>
            <a:r>
              <a:rPr lang="zh-CN" altLang="en-US" sz="3200" b="1" spc="-32" dirty="0">
                <a:solidFill>
                  <a:schemeClr val="tx1"/>
                </a:solidFill>
                <a:latin typeface="Open Sauce Sans" panose="00000800000000000000" pitchFamily="2" charset="0"/>
                <a:ea typeface="Open Sauce Bold"/>
                <a:cs typeface="Open Sauce Bold"/>
                <a:sym typeface="Open Sauce Bold"/>
              </a:rPr>
              <a:t>测量</a:t>
            </a:r>
            <a:r>
              <a:rPr lang="en-US" altLang="zh-CN" sz="3200" b="1" spc="-32" dirty="0">
                <a:solidFill>
                  <a:schemeClr val="tx1"/>
                </a:solidFill>
                <a:latin typeface="Open Sauce Sans" panose="00000800000000000000" pitchFamily="2" charset="0"/>
                <a:ea typeface="Open Sauce Bold"/>
                <a:cs typeface="Open Sauce Bold"/>
                <a:sym typeface="Open Sauce Bold"/>
              </a:rPr>
              <a:t>FoMO</a:t>
            </a:r>
            <a:r>
              <a:rPr lang="zh-CN" altLang="en-US" sz="3200" b="1" spc="-32" dirty="0">
                <a:solidFill>
                  <a:schemeClr val="tx1"/>
                </a:solidFill>
                <a:latin typeface="Open Sauce Sans" panose="00000800000000000000" pitchFamily="2" charset="0"/>
                <a:ea typeface="Open Sauce Bold"/>
                <a:cs typeface="Open Sauce Bold"/>
                <a:sym typeface="Open Sauce Bold"/>
              </a:rPr>
              <a:t>引发的负性情绪体验，如焦虑、忮忌、不安</a:t>
            </a:r>
            <a:endParaRPr lang="zh-CN" altLang="en-US" sz="3200" b="1" spc="-32" dirty="0">
              <a:solidFill>
                <a:schemeClr val="tx1"/>
              </a:solidFill>
              <a:latin typeface="Open Sauce Sans" panose="00000800000000000000" pitchFamily="2" charset="0"/>
              <a:ea typeface="Open Sauce Bold"/>
              <a:cs typeface="Open Sauce Bold"/>
              <a:sym typeface="Open Sauce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grpSp>
        <p:nvGrpSpPr>
          <p:cNvPr id="2" name="Group 2"/>
          <p:cNvGrpSpPr/>
          <p:nvPr/>
        </p:nvGrpSpPr>
        <p:grpSpPr>
          <a:xfrm>
            <a:off x="8306525" y="5053020"/>
            <a:ext cx="6074769" cy="60747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6843"/>
            </a:solidFill>
          </p:spPr>
          <p:txBody>
            <a:bodyPr/>
            <a:lstStyle/>
            <a:p>
              <a:endParaRPr lang="zh-CN" alt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360"/>
                </a:lnSpc>
              </a:pPr>
            </a:p>
          </p:txBody>
        </p:sp>
      </p:grpSp>
      <p:sp>
        <p:nvSpPr>
          <p:cNvPr id="5" name="Freeform 5"/>
          <p:cNvSpPr/>
          <p:nvPr/>
        </p:nvSpPr>
        <p:spPr>
          <a:xfrm>
            <a:off x="8922778" y="858792"/>
            <a:ext cx="7926153" cy="9996200"/>
          </a:xfrm>
          <a:custGeom>
            <a:avLst/>
            <a:gdLst/>
            <a:ahLst/>
            <a:cxnLst/>
            <a:rect l="l" t="t" r="r" b="b"/>
            <a:pathLst>
              <a:path w="7926153" h="9996200">
                <a:moveTo>
                  <a:pt x="0" y="0"/>
                </a:moveTo>
                <a:lnTo>
                  <a:pt x="7926153" y="0"/>
                </a:lnTo>
                <a:lnTo>
                  <a:pt x="7926153" y="9996200"/>
                </a:lnTo>
                <a:lnTo>
                  <a:pt x="0" y="9996200"/>
                </a:lnTo>
                <a:lnTo>
                  <a:pt x="0" y="0"/>
                </a:lnTo>
                <a:close/>
              </a:path>
            </a:pathLst>
          </a:custGeom>
          <a:blipFill>
            <a:blip r:embed="rId1"/>
            <a:stretch>
              <a:fillRect r="-2000"/>
            </a:stretch>
          </a:blipFill>
        </p:spPr>
        <p:txBody>
          <a:bodyPr/>
          <a:lstStyle/>
          <a:p>
            <a:endParaRPr lang="zh-CN" altLang="en-US"/>
          </a:p>
        </p:txBody>
      </p:sp>
      <p:sp>
        <p:nvSpPr>
          <p:cNvPr id="8" name="TextBox 8"/>
          <p:cNvSpPr txBox="1"/>
          <p:nvPr/>
        </p:nvSpPr>
        <p:spPr>
          <a:xfrm>
            <a:off x="1238250" y="1209675"/>
            <a:ext cx="8935320" cy="3825875"/>
          </a:xfrm>
          <a:prstGeom prst="rect">
            <a:avLst/>
          </a:prstGeom>
        </p:spPr>
        <p:txBody>
          <a:bodyPr lIns="0" tIns="0" rIns="0" bIns="0" rtlCol="0" anchor="t">
            <a:spAutoFit/>
          </a:bodyPr>
          <a:lstStyle/>
          <a:p>
            <a:pPr marL="0" lvl="0" indent="0" algn="l">
              <a:lnSpc>
                <a:spcPts val="9945"/>
              </a:lnSpc>
            </a:pPr>
            <a:r>
              <a:rPr lang="zh-CN" altLang="en-US" sz="9945" u="none" strike="noStrike" spc="-298" dirty="0">
                <a:solidFill>
                  <a:srgbClr val="1F191A"/>
                </a:solidFill>
                <a:latin typeface="Aileron Bold" panose="00000800000000000000"/>
                <a:ea typeface="Aileron Bold" panose="00000800000000000000"/>
                <a:cs typeface="Aileron Bold" panose="00000800000000000000"/>
                <a:sym typeface="Aileron"/>
              </a:rPr>
              <a:t>错失行为（</a:t>
            </a:r>
            <a:r>
              <a:rPr lang="en-US" altLang="zh-CN" sz="9945" u="none" strike="noStrike" spc="-298" dirty="0">
                <a:solidFill>
                  <a:srgbClr val="1F191A"/>
                </a:solidFill>
                <a:latin typeface="Aileron Bold" panose="00000800000000000000"/>
                <a:ea typeface="Aileron Bold" panose="00000800000000000000"/>
                <a:cs typeface="Aileron Bold" panose="00000800000000000000"/>
                <a:sym typeface="Aileron"/>
              </a:rPr>
              <a:t>Missing Behavior</a:t>
            </a:r>
            <a:r>
              <a:rPr lang="zh-CN" altLang="en-US" sz="9945" u="none" strike="noStrike" spc="-298" dirty="0">
                <a:solidFill>
                  <a:srgbClr val="1F191A"/>
                </a:solidFill>
                <a:latin typeface="Aileron Bold" panose="00000800000000000000"/>
                <a:ea typeface="Aileron Bold" panose="00000800000000000000"/>
                <a:cs typeface="Aileron Bold" panose="00000800000000000000"/>
                <a:sym typeface="Aileron"/>
              </a:rPr>
              <a:t>）</a:t>
            </a:r>
            <a:endParaRPr lang="zh-CN" altLang="en-US" sz="9945" u="none" strike="noStrike" spc="-298" dirty="0">
              <a:solidFill>
                <a:srgbClr val="1F191A"/>
              </a:solidFill>
              <a:latin typeface="Aileron Bold" panose="00000800000000000000"/>
              <a:ea typeface="Aileron Bold" panose="00000800000000000000"/>
              <a:cs typeface="Aileron Bold" panose="00000800000000000000"/>
              <a:sym typeface="Aileron"/>
            </a:endParaRPr>
          </a:p>
        </p:txBody>
      </p:sp>
      <p:sp>
        <p:nvSpPr>
          <p:cNvPr id="10" name="TextBox 10"/>
          <p:cNvSpPr txBox="1"/>
          <p:nvPr/>
        </p:nvSpPr>
        <p:spPr>
          <a:xfrm>
            <a:off x="8230235" y="1409700"/>
            <a:ext cx="4022725" cy="1292225"/>
          </a:xfrm>
          <a:prstGeom prst="rect">
            <a:avLst/>
          </a:prstGeom>
        </p:spPr>
        <p:txBody>
          <a:bodyPr wrap="square" lIns="0" tIns="0" rIns="0" bIns="0" rtlCol="0" anchor="t">
            <a:spAutoFit/>
          </a:bodyPr>
          <a:lstStyle/>
          <a:p>
            <a:pPr marL="0" lvl="0" indent="0" algn="l">
              <a:lnSpc>
                <a:spcPts val="3360"/>
              </a:lnSpc>
              <a:spcBef>
                <a:spcPct val="0"/>
              </a:spcBef>
            </a:pPr>
            <a:r>
              <a:rPr lang="zh-CN" altLang="en-US" sz="2400" b="1" spc="-23" dirty="0">
                <a:solidFill>
                  <a:srgbClr val="1F191A"/>
                </a:solidFill>
                <a:latin typeface="Open Sauce Sans" panose="00000800000000000000" pitchFamily="2" charset="0"/>
                <a:ea typeface="Open Sauce Bold"/>
                <a:cs typeface="Open Sauce Bold"/>
                <a:sym typeface="Open Sauce Bold"/>
              </a:rPr>
              <a:t>测量个体为缓解或避免</a:t>
            </a:r>
            <a:r>
              <a:rPr lang="en-US" altLang="zh-CN" sz="2400" b="1" spc="-23" dirty="0">
                <a:solidFill>
                  <a:srgbClr val="1F191A"/>
                </a:solidFill>
                <a:latin typeface="Open Sauce Sans" panose="00000800000000000000" pitchFamily="2" charset="0"/>
                <a:ea typeface="Open Sauce Bold"/>
                <a:cs typeface="Open Sauce Bold"/>
                <a:sym typeface="Open Sauce Bold"/>
              </a:rPr>
              <a:t>FoMO</a:t>
            </a:r>
            <a:r>
              <a:rPr lang="zh-CN" altLang="en-US" sz="2400" b="1" spc="-23" dirty="0">
                <a:solidFill>
                  <a:srgbClr val="1F191A"/>
                </a:solidFill>
                <a:latin typeface="Open Sauce Sans" panose="00000800000000000000" pitchFamily="2" charset="0"/>
                <a:ea typeface="Open Sauce Bold"/>
                <a:cs typeface="Open Sauce Bold"/>
                <a:sym typeface="Open Sauce Bold"/>
              </a:rPr>
              <a:t>而采取的补偿行为，尤其是社交媒体上的检查行为</a:t>
            </a:r>
            <a:endParaRPr lang="zh-CN" altLang="en-US" sz="2400" b="1" spc="-23" dirty="0">
              <a:solidFill>
                <a:srgbClr val="1F191A"/>
              </a:solidFill>
              <a:latin typeface="Open Sauce Sans" panose="00000800000000000000" pitchFamily="2" charset="0"/>
              <a:ea typeface="Open Sauce Bold"/>
              <a:cs typeface="Open Sauce Bold"/>
              <a:sym typeface="Open Sauce Bold"/>
            </a:endParaRPr>
          </a:p>
        </p:txBody>
      </p:sp>
      <p:sp>
        <p:nvSpPr>
          <p:cNvPr id="11" name="TextBox 7"/>
          <p:cNvSpPr txBox="1"/>
          <p:nvPr/>
        </p:nvSpPr>
        <p:spPr>
          <a:xfrm>
            <a:off x="534035" y="6286500"/>
            <a:ext cx="7943850" cy="3016250"/>
          </a:xfrm>
          <a:prstGeom prst="rect">
            <a:avLst/>
          </a:prstGeom>
        </p:spPr>
        <p:txBody>
          <a:bodyPr wrap="square" lIns="0" tIns="0" rIns="0" bIns="0" rtlCol="0" anchor="t">
            <a:spAutoFit/>
          </a:bodyPr>
          <a:lstStyle/>
          <a:p>
            <a:pPr algn="l">
              <a:lnSpc>
                <a:spcPts val="3360"/>
              </a:lnSpc>
            </a:pPr>
            <a:r>
              <a:rPr lang="en-US" altLang="zh-CN" sz="2400" spc="-23" dirty="0">
                <a:solidFill>
                  <a:srgbClr val="1F191A"/>
                </a:solidFill>
                <a:latin typeface="Open Sauce Sans Light" panose="00000400000000000000" pitchFamily="2" charset="0"/>
                <a:ea typeface="Open Sauce Light"/>
                <a:cs typeface="Open Sauce Light"/>
                <a:sym typeface="Open Sauce Light"/>
              </a:rPr>
              <a:t>B1  </a:t>
            </a:r>
            <a:r>
              <a:rPr lang="zh-CN" altLang="en-US" sz="2400" spc="-23" dirty="0">
                <a:solidFill>
                  <a:srgbClr val="1F191A"/>
                </a:solidFill>
                <a:latin typeface="Open Sauce Sans Light" panose="00000400000000000000" pitchFamily="2" charset="0"/>
                <a:ea typeface="Open Sauce Light"/>
                <a:cs typeface="Open Sauce Light"/>
                <a:sym typeface="Open Sauce Light"/>
              </a:rPr>
              <a:t>我会频繁查看手机</a:t>
            </a:r>
            <a:r>
              <a:rPr lang="en-US" altLang="zh-CN" sz="2400" spc="-23" dirty="0">
                <a:solidFill>
                  <a:srgbClr val="1F191A"/>
                </a:solidFill>
                <a:latin typeface="Open Sauce Sans Light" panose="00000400000000000000" pitchFamily="2" charset="0"/>
                <a:ea typeface="Open Sauce Light"/>
                <a:cs typeface="Open Sauce Light"/>
                <a:sym typeface="Open Sauce Light"/>
              </a:rPr>
              <a:t>/</a:t>
            </a:r>
            <a:r>
              <a:rPr lang="zh-CN" altLang="en-US" sz="2400" spc="-23" dirty="0">
                <a:solidFill>
                  <a:srgbClr val="1F191A"/>
                </a:solidFill>
                <a:latin typeface="Open Sauce Sans Light" panose="00000400000000000000" pitchFamily="2" charset="0"/>
                <a:ea typeface="Open Sauce Light"/>
                <a:cs typeface="Open Sauce Light"/>
                <a:sym typeface="Open Sauce Light"/>
              </a:rPr>
              <a:t>社交媒体（频繁刷朋友圈</a:t>
            </a:r>
            <a:r>
              <a:rPr lang="en-US" altLang="zh-CN" sz="2400" spc="-23" dirty="0">
                <a:solidFill>
                  <a:srgbClr val="1F191A"/>
                </a:solidFill>
                <a:latin typeface="Open Sauce Sans Light" panose="00000400000000000000" pitchFamily="2" charset="0"/>
                <a:ea typeface="Open Sauce Light"/>
                <a:cs typeface="Open Sauce Light"/>
                <a:sym typeface="Open Sauce Light"/>
              </a:rPr>
              <a:t>/</a:t>
            </a:r>
            <a:r>
              <a:rPr lang="zh-CN" altLang="en-US" sz="2400" spc="-23" dirty="0">
                <a:solidFill>
                  <a:srgbClr val="1F191A"/>
                </a:solidFill>
                <a:latin typeface="Open Sauce Sans Light" panose="00000400000000000000" pitchFamily="2" charset="0"/>
                <a:ea typeface="Open Sauce Light"/>
                <a:cs typeface="Open Sauce Light"/>
                <a:sym typeface="Open Sauce Light"/>
              </a:rPr>
              <a:t>刷微博</a:t>
            </a:r>
            <a:r>
              <a:rPr lang="en-US" altLang="zh-CN" sz="2400" spc="-23" dirty="0">
                <a:solidFill>
                  <a:srgbClr val="1F191A"/>
                </a:solidFill>
                <a:latin typeface="Open Sauce Sans Light" panose="00000400000000000000" pitchFamily="2" charset="0"/>
                <a:ea typeface="Open Sauce Light"/>
                <a:cs typeface="Open Sauce Light"/>
                <a:sym typeface="Open Sauce Light"/>
              </a:rPr>
              <a:t>/</a:t>
            </a:r>
            <a:r>
              <a:rPr lang="zh-CN" altLang="en-US" sz="2400" spc="-23" dirty="0">
                <a:solidFill>
                  <a:srgbClr val="1F191A"/>
                </a:solidFill>
                <a:latin typeface="Open Sauce Sans Light" panose="00000400000000000000" pitchFamily="2" charset="0"/>
                <a:ea typeface="Open Sauce Light"/>
                <a:cs typeface="Open Sauce Light"/>
                <a:sym typeface="Open Sauce Light"/>
              </a:rPr>
              <a:t>刷抖音），以防错过朋友们的动态</a:t>
            </a:r>
            <a:endParaRPr lang="zh-CN" altLang="en-US" sz="2400" spc="-23" dirty="0">
              <a:solidFill>
                <a:srgbClr val="1F191A"/>
              </a:solidFill>
              <a:latin typeface="Open Sauce Sans Light" panose="00000400000000000000" pitchFamily="2" charset="0"/>
              <a:ea typeface="Open Sauce Light"/>
              <a:cs typeface="Open Sauce Light"/>
              <a:sym typeface="Open Sauce Light"/>
            </a:endParaRPr>
          </a:p>
          <a:p>
            <a:pPr algn="l">
              <a:lnSpc>
                <a:spcPts val="3360"/>
              </a:lnSpc>
            </a:pPr>
            <a:r>
              <a:rPr lang="en-US" altLang="zh-CN" sz="2400" spc="-23" dirty="0">
                <a:solidFill>
                  <a:srgbClr val="1F191A"/>
                </a:solidFill>
                <a:latin typeface="Open Sauce Sans Light" panose="00000400000000000000" pitchFamily="2" charset="0"/>
                <a:ea typeface="Open Sauce Light"/>
                <a:cs typeface="Open Sauce Light"/>
                <a:sym typeface="Open Sauce Light"/>
              </a:rPr>
              <a:t>B2  </a:t>
            </a:r>
            <a:r>
              <a:rPr lang="zh-CN" altLang="en-US" sz="2400" spc="-23" dirty="0">
                <a:solidFill>
                  <a:srgbClr val="1F191A"/>
                </a:solidFill>
                <a:latin typeface="Open Sauce Sans Light" panose="00000400000000000000" pitchFamily="2" charset="0"/>
                <a:ea typeface="Open Sauce Light"/>
                <a:cs typeface="Open Sauce Light"/>
                <a:sym typeface="Open Sauce Light"/>
              </a:rPr>
              <a:t>即使在做正事（如上课、自习），我也会忍不住查看朋友们的最新消息</a:t>
            </a:r>
            <a:endParaRPr lang="zh-CN" altLang="en-US" sz="2400" spc="-23" dirty="0">
              <a:solidFill>
                <a:srgbClr val="1F191A"/>
              </a:solidFill>
              <a:latin typeface="Open Sauce Sans Light" panose="00000400000000000000" pitchFamily="2" charset="0"/>
              <a:ea typeface="Open Sauce Light"/>
              <a:cs typeface="Open Sauce Light"/>
              <a:sym typeface="Open Sauce Light"/>
            </a:endParaRPr>
          </a:p>
          <a:p>
            <a:pPr algn="l">
              <a:lnSpc>
                <a:spcPts val="3360"/>
              </a:lnSpc>
            </a:pPr>
            <a:r>
              <a:rPr lang="en-US" altLang="zh-CN" sz="2400" spc="-23" dirty="0">
                <a:solidFill>
                  <a:srgbClr val="1F191A"/>
                </a:solidFill>
                <a:latin typeface="Open Sauce Sans Light" panose="00000400000000000000" pitchFamily="2" charset="0"/>
                <a:ea typeface="Open Sauce Light"/>
                <a:cs typeface="Open Sauce Light"/>
                <a:sym typeface="Open Sauce Light"/>
              </a:rPr>
              <a:t>B3  </a:t>
            </a:r>
            <a:r>
              <a:rPr lang="zh-CN" altLang="en-US" sz="2400" spc="-23" dirty="0">
                <a:solidFill>
                  <a:srgbClr val="1F191A"/>
                </a:solidFill>
                <a:latin typeface="Open Sauce Sans Light" panose="00000400000000000000" pitchFamily="2" charset="0"/>
                <a:ea typeface="Open Sauce Light"/>
                <a:cs typeface="Open Sauce Light"/>
                <a:sym typeface="Open Sauce Light"/>
              </a:rPr>
              <a:t>我会主动分享自己的动态，以确保不被朋友们</a:t>
            </a:r>
            <a:r>
              <a:rPr lang="en-US" altLang="zh-CN" sz="2400" spc="-23" dirty="0">
                <a:solidFill>
                  <a:srgbClr val="1F191A"/>
                </a:solidFill>
                <a:latin typeface="Open Sauce Sans Light" panose="00000400000000000000" pitchFamily="2" charset="0"/>
                <a:ea typeface="Open Sauce Light"/>
                <a:cs typeface="Open Sauce Light"/>
                <a:sym typeface="Open Sauce Light"/>
              </a:rPr>
              <a:t>“</a:t>
            </a:r>
            <a:r>
              <a:rPr lang="zh-CN" altLang="en-US" sz="2400" spc="-23" dirty="0">
                <a:solidFill>
                  <a:srgbClr val="1F191A"/>
                </a:solidFill>
                <a:latin typeface="Open Sauce Sans Light" panose="00000400000000000000" pitchFamily="2" charset="0"/>
                <a:ea typeface="Open Sauce Light"/>
                <a:cs typeface="Open Sauce Light"/>
                <a:sym typeface="Open Sauce Light"/>
              </a:rPr>
              <a:t>遗忘</a:t>
            </a:r>
            <a:r>
              <a:rPr lang="en-US" altLang="zh-CN" sz="2400" spc="-23" dirty="0">
                <a:solidFill>
                  <a:srgbClr val="1F191A"/>
                </a:solidFill>
                <a:latin typeface="Open Sauce Sans Light" panose="00000400000000000000" pitchFamily="2" charset="0"/>
                <a:ea typeface="Open Sauce Light"/>
                <a:cs typeface="Open Sauce Light"/>
                <a:sym typeface="Open Sauce Light"/>
              </a:rPr>
              <a:t>”</a:t>
            </a:r>
            <a:endParaRPr lang="en-US" altLang="zh-CN" sz="2400" spc="-23" dirty="0">
              <a:solidFill>
                <a:srgbClr val="1F191A"/>
              </a:solidFill>
              <a:latin typeface="Open Sauce Sans Light" panose="00000400000000000000" pitchFamily="2" charset="0"/>
              <a:ea typeface="Open Sauce Light"/>
              <a:cs typeface="Open Sauce Light"/>
              <a:sym typeface="Open Sauce Light"/>
            </a:endParaRPr>
          </a:p>
          <a:p>
            <a:pPr algn="l">
              <a:lnSpc>
                <a:spcPts val="3360"/>
              </a:lnSpc>
            </a:pPr>
            <a:r>
              <a:rPr lang="en-US" altLang="zh-CN" sz="2400" spc="-23" dirty="0">
                <a:solidFill>
                  <a:srgbClr val="1F191A"/>
                </a:solidFill>
                <a:latin typeface="Open Sauce Sans Light" panose="00000400000000000000" pitchFamily="2" charset="0"/>
                <a:ea typeface="Open Sauce Light"/>
                <a:cs typeface="Open Sauce Light"/>
                <a:sym typeface="Open Sauce Light"/>
              </a:rPr>
              <a:t>B4  </a:t>
            </a:r>
            <a:r>
              <a:rPr lang="zh-CN" altLang="en-US" sz="2400" spc="-23" dirty="0">
                <a:solidFill>
                  <a:srgbClr val="1F191A"/>
                </a:solidFill>
                <a:latin typeface="Open Sauce Sans Light" panose="00000400000000000000" pitchFamily="2" charset="0"/>
                <a:ea typeface="Open Sauce Light"/>
                <a:cs typeface="Open Sauce Light"/>
                <a:sym typeface="Open Sauce Light"/>
              </a:rPr>
              <a:t>我会在睡前或醒来后第一时间检查社交媒体上的信息更新</a:t>
            </a:r>
            <a:r>
              <a:rPr lang="en-US" sz="2400" spc="-23" dirty="0">
                <a:solidFill>
                  <a:srgbClr val="1F191A"/>
                </a:solidFill>
                <a:latin typeface="Open Sauce Sans Light" panose="00000400000000000000" pitchFamily="2" charset="0"/>
                <a:ea typeface="Open Sauce Light"/>
                <a:cs typeface="Open Sauce Light"/>
                <a:sym typeface="Open Sauce Light"/>
              </a:rPr>
              <a:t>.</a:t>
            </a:r>
            <a:endParaRPr lang="en-US" sz="2400" spc="-23" dirty="0">
              <a:solidFill>
                <a:srgbClr val="1F191A"/>
              </a:solidFill>
              <a:latin typeface="Open Sauce Sans Light" panose="00000400000000000000" pitchFamily="2" charset="0"/>
              <a:ea typeface="Open Sauce Light"/>
              <a:cs typeface="Open Sauce Light"/>
              <a:sym typeface="Open Sauce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sp>
        <p:nvSpPr>
          <p:cNvPr id="3" name="Freeform 3"/>
          <p:cNvSpPr/>
          <p:nvPr/>
        </p:nvSpPr>
        <p:spPr>
          <a:xfrm rot="5400000">
            <a:off x="1096645" y="3619500"/>
            <a:ext cx="424815" cy="424815"/>
          </a:xfrm>
          <a:custGeom>
            <a:avLst/>
            <a:gdLst/>
            <a:ahLst/>
            <a:cxnLst/>
            <a:rect l="l" t="t" r="r" b="b"/>
            <a:pathLst>
              <a:path w="566495" h="566495">
                <a:moveTo>
                  <a:pt x="0" y="0"/>
                </a:moveTo>
                <a:lnTo>
                  <a:pt x="566495" y="0"/>
                </a:lnTo>
                <a:lnTo>
                  <a:pt x="566495" y="566494"/>
                </a:lnTo>
                <a:lnTo>
                  <a:pt x="0" y="56649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zh-CN" altLang="en-US"/>
          </a:p>
        </p:txBody>
      </p:sp>
      <p:sp>
        <p:nvSpPr>
          <p:cNvPr id="4" name="Freeform 4"/>
          <p:cNvSpPr/>
          <p:nvPr/>
        </p:nvSpPr>
        <p:spPr>
          <a:xfrm rot="5400000">
            <a:off x="1096645" y="6667500"/>
            <a:ext cx="424815" cy="424815"/>
          </a:xfrm>
          <a:custGeom>
            <a:avLst/>
            <a:gdLst/>
            <a:ahLst/>
            <a:cxnLst/>
            <a:rect l="l" t="t" r="r" b="b"/>
            <a:pathLst>
              <a:path w="566495" h="566495">
                <a:moveTo>
                  <a:pt x="0" y="0"/>
                </a:moveTo>
                <a:lnTo>
                  <a:pt x="566495" y="0"/>
                </a:lnTo>
                <a:lnTo>
                  <a:pt x="566495" y="566495"/>
                </a:lnTo>
                <a:lnTo>
                  <a:pt x="0" y="56649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zh-CN" altLang="en-US"/>
          </a:p>
        </p:txBody>
      </p:sp>
      <p:sp>
        <p:nvSpPr>
          <p:cNvPr id="5" name="AutoShape 5"/>
          <p:cNvSpPr/>
          <p:nvPr/>
        </p:nvSpPr>
        <p:spPr>
          <a:xfrm>
            <a:off x="1219835" y="6219825"/>
            <a:ext cx="6717030" cy="0"/>
          </a:xfrm>
          <a:prstGeom prst="line">
            <a:avLst/>
          </a:prstGeom>
          <a:ln w="38100" cap="flat">
            <a:solidFill>
              <a:srgbClr val="000000"/>
            </a:solidFill>
            <a:prstDash val="solid"/>
            <a:headEnd type="none" w="sm" len="sm"/>
            <a:tailEnd type="none" w="sm" len="sm"/>
          </a:ln>
        </p:spPr>
        <p:txBody>
          <a:bodyPr/>
          <a:lstStyle/>
          <a:p>
            <a:endParaRPr lang="zh-CN" altLang="en-US"/>
          </a:p>
        </p:txBody>
      </p:sp>
      <p:sp>
        <p:nvSpPr>
          <p:cNvPr id="6" name="AutoShape 6"/>
          <p:cNvSpPr/>
          <p:nvPr/>
        </p:nvSpPr>
        <p:spPr>
          <a:xfrm flipV="1">
            <a:off x="9144000" y="1028700"/>
            <a:ext cx="0" cy="8229600"/>
          </a:xfrm>
          <a:prstGeom prst="line">
            <a:avLst/>
          </a:prstGeom>
          <a:ln w="38100" cap="flat">
            <a:solidFill>
              <a:srgbClr val="000000"/>
            </a:solidFill>
            <a:prstDash val="solid"/>
            <a:headEnd type="none" w="sm" len="sm"/>
            <a:tailEnd type="none" w="sm" len="sm"/>
          </a:ln>
        </p:spPr>
        <p:txBody>
          <a:bodyPr/>
          <a:lstStyle/>
          <a:p>
            <a:endParaRPr lang="zh-CN" altLang="en-US"/>
          </a:p>
        </p:txBody>
      </p:sp>
      <p:sp>
        <p:nvSpPr>
          <p:cNvPr id="7" name="Freeform 7"/>
          <p:cNvSpPr/>
          <p:nvPr/>
        </p:nvSpPr>
        <p:spPr>
          <a:xfrm rot="5400000">
            <a:off x="10474325" y="1590675"/>
            <a:ext cx="424815" cy="424815"/>
          </a:xfrm>
          <a:custGeom>
            <a:avLst/>
            <a:gdLst/>
            <a:ahLst/>
            <a:cxnLst/>
            <a:rect l="l" t="t" r="r" b="b"/>
            <a:pathLst>
              <a:path w="566495" h="566495">
                <a:moveTo>
                  <a:pt x="0" y="0"/>
                </a:moveTo>
                <a:lnTo>
                  <a:pt x="566495" y="0"/>
                </a:lnTo>
                <a:lnTo>
                  <a:pt x="566495" y="566495"/>
                </a:lnTo>
                <a:lnTo>
                  <a:pt x="0" y="56649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zh-CN" altLang="en-US"/>
          </a:p>
        </p:txBody>
      </p:sp>
      <p:sp>
        <p:nvSpPr>
          <p:cNvPr id="8" name="Freeform 8"/>
          <p:cNvSpPr/>
          <p:nvPr/>
        </p:nvSpPr>
        <p:spPr>
          <a:xfrm rot="5400000">
            <a:off x="10474325" y="4505960"/>
            <a:ext cx="424815" cy="424815"/>
          </a:xfrm>
          <a:custGeom>
            <a:avLst/>
            <a:gdLst/>
            <a:ahLst/>
            <a:cxnLst/>
            <a:rect l="l" t="t" r="r" b="b"/>
            <a:pathLst>
              <a:path w="566495" h="566495">
                <a:moveTo>
                  <a:pt x="0" y="0"/>
                </a:moveTo>
                <a:lnTo>
                  <a:pt x="566495" y="0"/>
                </a:lnTo>
                <a:lnTo>
                  <a:pt x="566495" y="566494"/>
                </a:lnTo>
                <a:lnTo>
                  <a:pt x="0" y="56649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zh-CN" altLang="en-US"/>
          </a:p>
        </p:txBody>
      </p:sp>
      <p:sp>
        <p:nvSpPr>
          <p:cNvPr id="9" name="Freeform 9">
            <a:hlinkClick r:id="rId3" tooltip="" action="ppaction://hlinkfile"/>
          </p:cNvPr>
          <p:cNvSpPr/>
          <p:nvPr/>
        </p:nvSpPr>
        <p:spPr>
          <a:xfrm rot="5400000">
            <a:off x="10474325" y="7488555"/>
            <a:ext cx="424815" cy="424815"/>
          </a:xfrm>
          <a:custGeom>
            <a:avLst/>
            <a:gdLst/>
            <a:ahLst/>
            <a:cxnLst/>
            <a:rect l="l" t="t" r="r" b="b"/>
            <a:pathLst>
              <a:path w="566495" h="566495">
                <a:moveTo>
                  <a:pt x="0" y="0"/>
                </a:moveTo>
                <a:lnTo>
                  <a:pt x="566495" y="0"/>
                </a:lnTo>
                <a:lnTo>
                  <a:pt x="566495" y="566495"/>
                </a:lnTo>
                <a:lnTo>
                  <a:pt x="0" y="56649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zh-CN" altLang="en-US"/>
          </a:p>
        </p:txBody>
      </p:sp>
      <p:sp>
        <p:nvSpPr>
          <p:cNvPr id="10" name="AutoShape 10"/>
          <p:cNvSpPr/>
          <p:nvPr/>
        </p:nvSpPr>
        <p:spPr>
          <a:xfrm>
            <a:off x="10474325" y="3910965"/>
            <a:ext cx="6717030" cy="0"/>
          </a:xfrm>
          <a:prstGeom prst="line">
            <a:avLst/>
          </a:prstGeom>
          <a:ln w="38100" cap="flat">
            <a:solidFill>
              <a:srgbClr val="000000"/>
            </a:solidFill>
            <a:prstDash val="solid"/>
            <a:headEnd type="none" w="sm" len="sm"/>
            <a:tailEnd type="none" w="sm" len="sm"/>
          </a:ln>
        </p:spPr>
        <p:txBody>
          <a:bodyPr/>
          <a:lstStyle/>
          <a:p>
            <a:endParaRPr lang="zh-CN" altLang="en-US"/>
          </a:p>
        </p:txBody>
      </p:sp>
      <p:sp>
        <p:nvSpPr>
          <p:cNvPr id="11" name="AutoShape 11"/>
          <p:cNvSpPr/>
          <p:nvPr/>
        </p:nvSpPr>
        <p:spPr>
          <a:xfrm>
            <a:off x="10474325" y="6978015"/>
            <a:ext cx="6717030" cy="0"/>
          </a:xfrm>
          <a:prstGeom prst="line">
            <a:avLst/>
          </a:prstGeom>
          <a:ln w="38100" cap="flat">
            <a:solidFill>
              <a:srgbClr val="000000"/>
            </a:solidFill>
            <a:prstDash val="solid"/>
            <a:headEnd type="none" w="sm" len="sm"/>
            <a:tailEnd type="none" w="sm" len="sm"/>
          </a:ln>
        </p:spPr>
        <p:txBody>
          <a:bodyPr/>
          <a:lstStyle/>
          <a:p>
            <a:endParaRPr lang="zh-CN" altLang="en-US"/>
          </a:p>
        </p:txBody>
      </p:sp>
      <p:sp>
        <p:nvSpPr>
          <p:cNvPr id="12" name="TextBox 12"/>
          <p:cNvSpPr txBox="1"/>
          <p:nvPr/>
        </p:nvSpPr>
        <p:spPr>
          <a:xfrm>
            <a:off x="1096726" y="1388950"/>
            <a:ext cx="6825889" cy="1140460"/>
          </a:xfrm>
          <a:prstGeom prst="rect">
            <a:avLst/>
          </a:prstGeom>
        </p:spPr>
        <p:txBody>
          <a:bodyPr lIns="0" tIns="0" rIns="0" bIns="0" rtlCol="0" anchor="t">
            <a:spAutoFit/>
          </a:bodyPr>
          <a:lstStyle/>
          <a:p>
            <a:pPr marL="0" lvl="0" indent="0" algn="l">
              <a:lnSpc>
                <a:spcPts val="8895"/>
              </a:lnSpc>
              <a:spcBef>
                <a:spcPct val="0"/>
              </a:spcBef>
            </a:pPr>
            <a:r>
              <a:rPr lang="zh-CN" altLang="en-US" sz="8895" b="1" u="none" strike="noStrike" spc="-266">
                <a:solidFill>
                  <a:srgbClr val="EF4434"/>
                </a:solidFill>
                <a:latin typeface="Aileron Bold" panose="00000800000000000000"/>
                <a:ea typeface="宋体" panose="02010600030101010101" pitchFamily="2" charset="-122"/>
                <a:cs typeface="Aileron Bold" panose="00000800000000000000"/>
                <a:sym typeface="Aileron Bold" panose="00000800000000000000"/>
              </a:rPr>
              <a:t>计分与结果</a:t>
            </a:r>
            <a:endParaRPr lang="zh-CN" altLang="en-US" sz="8895" b="1" u="none" strike="noStrike" spc="-266">
              <a:solidFill>
                <a:srgbClr val="EF4434"/>
              </a:solidFill>
              <a:latin typeface="Aileron Bold" panose="00000800000000000000"/>
              <a:ea typeface="宋体" panose="02010600030101010101" pitchFamily="2" charset="-122"/>
              <a:cs typeface="Aileron Bold" panose="00000800000000000000"/>
              <a:sym typeface="Aileron Bold" panose="00000800000000000000"/>
            </a:endParaRPr>
          </a:p>
        </p:txBody>
      </p:sp>
      <p:sp>
        <p:nvSpPr>
          <p:cNvPr id="14" name="TextBox 14"/>
          <p:cNvSpPr txBox="1"/>
          <p:nvPr/>
        </p:nvSpPr>
        <p:spPr>
          <a:xfrm>
            <a:off x="1829435" y="3543300"/>
            <a:ext cx="6819265" cy="2516505"/>
          </a:xfrm>
          <a:prstGeom prst="rect">
            <a:avLst/>
          </a:prstGeom>
        </p:spPr>
        <p:txBody>
          <a:bodyPr wrap="square" lIns="0" tIns="0" rIns="0" bIns="0" rtlCol="0" anchor="t">
            <a:spAutoFit/>
          </a:bodyPr>
          <a:lstStyle/>
          <a:p>
            <a:pPr marL="0" lvl="0" indent="0" algn="l">
              <a:lnSpc>
                <a:spcPts val="3925"/>
              </a:lnSpc>
              <a:spcBef>
                <a:spcPct val="0"/>
              </a:spcBef>
            </a:pPr>
            <a:r>
              <a:rPr lang="zh-CN" altLang="en-US" sz="2805" b="1" spc="-28" dirty="0">
                <a:solidFill>
                  <a:srgbClr val="1F191A"/>
                </a:solidFill>
                <a:latin typeface="Open Sauce Sans" panose="00000800000000000000" pitchFamily="2" charset="0"/>
                <a:ea typeface="Open Sauce Bold"/>
                <a:cs typeface="Open Sauce Bold"/>
                <a:sym typeface="Open Sauce Bold"/>
              </a:rPr>
              <a:t>总分计算：</a:t>
            </a:r>
            <a:r>
              <a:rPr lang="en-US" altLang="zh-CN" sz="2805" b="1" spc="-28" dirty="0">
                <a:solidFill>
                  <a:srgbClr val="1F191A"/>
                </a:solidFill>
                <a:latin typeface="Open Sauce Sans" panose="00000800000000000000" pitchFamily="2" charset="0"/>
                <a:ea typeface="Open Sauce Bold"/>
                <a:cs typeface="Open Sauce Bold"/>
                <a:sym typeface="Open Sauce Bold"/>
              </a:rPr>
              <a:t>16</a:t>
            </a:r>
            <a:r>
              <a:rPr lang="zh-CN" altLang="en-US" sz="2805" b="1" spc="-28" dirty="0">
                <a:solidFill>
                  <a:srgbClr val="1F191A"/>
                </a:solidFill>
                <a:latin typeface="Open Sauce Sans" panose="00000800000000000000" pitchFamily="2" charset="0"/>
                <a:ea typeface="Open Sauce Bold"/>
                <a:cs typeface="Open Sauce Bold"/>
                <a:sym typeface="Open Sauce Bold"/>
              </a:rPr>
              <a:t>个条目得分相加（</a:t>
            </a:r>
            <a:r>
              <a:rPr lang="en-US" altLang="zh-CN" sz="2805" b="1" spc="-28" dirty="0">
                <a:solidFill>
                  <a:srgbClr val="1F191A"/>
                </a:solidFill>
                <a:latin typeface="Open Sauce Sans" panose="00000800000000000000" pitchFamily="2" charset="0"/>
                <a:ea typeface="Open Sauce Bold"/>
                <a:cs typeface="Open Sauce Bold"/>
                <a:sym typeface="Open Sauce Bold"/>
              </a:rPr>
              <a:t>1</a:t>
            </a:r>
            <a:r>
              <a:rPr lang="en-US" altLang="en-US" sz="2805" b="1" spc="-28" dirty="0">
                <a:solidFill>
                  <a:srgbClr val="1F191A"/>
                </a:solidFill>
                <a:latin typeface="Open Sauce Sans" panose="00000800000000000000" pitchFamily="2" charset="0"/>
                <a:ea typeface="Open Sauce Bold"/>
                <a:cs typeface="Open Sauce Bold"/>
                <a:sym typeface="Open Sauce Bold"/>
              </a:rPr>
              <a:t>→</a:t>
            </a:r>
            <a:r>
              <a:rPr lang="en-US" altLang="zh-CN" sz="2805" b="1" spc="-28" dirty="0">
                <a:solidFill>
                  <a:srgbClr val="1F191A"/>
                </a:solidFill>
                <a:latin typeface="Open Sauce Sans" panose="00000800000000000000" pitchFamily="2" charset="0"/>
                <a:ea typeface="Open Sauce Bold"/>
                <a:cs typeface="Open Sauce Bold"/>
                <a:sym typeface="Open Sauce Bold"/>
              </a:rPr>
              <a:t>5</a:t>
            </a:r>
            <a:r>
              <a:rPr lang="zh-CN" altLang="en-US" sz="2805" b="1" spc="-28" dirty="0">
                <a:solidFill>
                  <a:srgbClr val="1F191A"/>
                </a:solidFill>
                <a:latin typeface="Open Sauce Sans" panose="00000800000000000000" pitchFamily="2" charset="0"/>
                <a:ea typeface="Open Sauce Bold"/>
                <a:cs typeface="Open Sauce Bold"/>
                <a:sym typeface="Open Sauce Bold"/>
              </a:rPr>
              <a:t>），总分范围</a:t>
            </a:r>
            <a:r>
              <a:rPr lang="en-US" altLang="zh-CN" sz="2805" b="1" spc="-28" dirty="0">
                <a:solidFill>
                  <a:srgbClr val="1F191A"/>
                </a:solidFill>
                <a:latin typeface="Open Sauce Sans" panose="00000800000000000000" pitchFamily="2" charset="0"/>
                <a:ea typeface="Open Sauce Bold"/>
                <a:cs typeface="Open Sauce Bold"/>
                <a:sym typeface="Open Sauce Bold"/>
              </a:rPr>
              <a:t>16~80</a:t>
            </a:r>
            <a:r>
              <a:rPr lang="zh-CN" altLang="en-US" sz="2805" b="1" spc="-28" dirty="0">
                <a:solidFill>
                  <a:srgbClr val="1F191A"/>
                </a:solidFill>
                <a:latin typeface="Open Sauce Sans" panose="00000800000000000000" pitchFamily="2" charset="0"/>
                <a:ea typeface="Open Sauce Bold"/>
                <a:cs typeface="Open Sauce Bold"/>
                <a:sym typeface="Open Sauce Bold"/>
              </a:rPr>
              <a:t>分。得分越高，</a:t>
            </a:r>
            <a:r>
              <a:rPr lang="en-US" altLang="zh-CN" sz="2805" b="1" spc="-28" dirty="0">
                <a:solidFill>
                  <a:srgbClr val="1F191A"/>
                </a:solidFill>
                <a:latin typeface="Open Sauce Sans" panose="00000800000000000000" pitchFamily="2" charset="0"/>
                <a:ea typeface="Open Sauce Bold"/>
                <a:cs typeface="Open Sauce Bold"/>
                <a:sym typeface="Open Sauce Bold"/>
              </a:rPr>
              <a:t>FoMO</a:t>
            </a:r>
            <a:r>
              <a:rPr lang="zh-CN" altLang="en-US" sz="2805" b="1" spc="-28" dirty="0">
                <a:solidFill>
                  <a:srgbClr val="1F191A"/>
                </a:solidFill>
                <a:latin typeface="Open Sauce Sans" panose="00000800000000000000" pitchFamily="2" charset="0"/>
                <a:ea typeface="Open Sauce Bold"/>
                <a:cs typeface="Open Sauce Bold"/>
                <a:sym typeface="Open Sauce Bold"/>
              </a:rPr>
              <a:t>程度越高。</a:t>
            </a:r>
            <a:endParaRPr lang="zh-CN" altLang="en-US" sz="2805" b="1" spc="-28" dirty="0">
              <a:solidFill>
                <a:srgbClr val="1F191A"/>
              </a:solidFill>
              <a:latin typeface="Open Sauce Sans" panose="00000800000000000000" pitchFamily="2" charset="0"/>
              <a:ea typeface="Open Sauce Bold"/>
              <a:cs typeface="Open Sauce Bold"/>
              <a:sym typeface="Open Sauce Bold"/>
            </a:endParaRPr>
          </a:p>
          <a:p>
            <a:pPr marL="0" lvl="0" indent="0" algn="l">
              <a:lnSpc>
                <a:spcPts val="3925"/>
              </a:lnSpc>
              <a:spcBef>
                <a:spcPct val="0"/>
              </a:spcBef>
            </a:pPr>
            <a:r>
              <a:rPr lang="zh-CN" altLang="en-US" sz="2805" b="1" spc="-28" dirty="0">
                <a:solidFill>
                  <a:srgbClr val="1F191A"/>
                </a:solidFill>
                <a:latin typeface="Open Sauce Sans" panose="00000800000000000000" pitchFamily="2" charset="0"/>
                <a:ea typeface="Open Sauce Bold"/>
                <a:cs typeface="Open Sauce Bold"/>
                <a:sym typeface="Open Sauce Bold"/>
              </a:rPr>
              <a:t>维度分：每个维度的</a:t>
            </a:r>
            <a:r>
              <a:rPr lang="en-US" altLang="zh-CN" sz="2805" b="1" spc="-28" dirty="0">
                <a:solidFill>
                  <a:srgbClr val="1F191A"/>
                </a:solidFill>
                <a:latin typeface="Open Sauce Sans" panose="00000800000000000000" pitchFamily="2" charset="0"/>
                <a:ea typeface="Open Sauce Bold"/>
                <a:cs typeface="Open Sauce Bold"/>
                <a:sym typeface="Open Sauce Bold"/>
              </a:rPr>
              <a:t>4</a:t>
            </a:r>
            <a:r>
              <a:rPr lang="zh-CN" altLang="en-US" sz="2805" b="1" spc="-28" dirty="0">
                <a:solidFill>
                  <a:srgbClr val="1F191A"/>
                </a:solidFill>
                <a:latin typeface="Open Sauce Sans" panose="00000800000000000000" pitchFamily="2" charset="0"/>
                <a:ea typeface="Open Sauce Bold"/>
                <a:cs typeface="Open Sauce Bold"/>
                <a:sym typeface="Open Sauce Bold"/>
              </a:rPr>
              <a:t>题得分相加，可分别分析动机、认知、情绪、行为的</a:t>
            </a:r>
            <a:r>
              <a:rPr lang="en-US" altLang="zh-CN" sz="2805" b="1" spc="-28" dirty="0">
                <a:solidFill>
                  <a:srgbClr val="1F191A"/>
                </a:solidFill>
                <a:latin typeface="Open Sauce Sans" panose="00000800000000000000" pitchFamily="2" charset="0"/>
                <a:ea typeface="Open Sauce Bold"/>
                <a:cs typeface="Open Sauce Bold"/>
                <a:sym typeface="Open Sauce Bold"/>
              </a:rPr>
              <a:t>FoMO</a:t>
            </a:r>
            <a:r>
              <a:rPr lang="zh-CN" altLang="en-US" sz="2805" b="1" spc="-28" dirty="0">
                <a:solidFill>
                  <a:srgbClr val="1F191A"/>
                </a:solidFill>
                <a:latin typeface="Open Sauce Sans" panose="00000800000000000000" pitchFamily="2" charset="0"/>
                <a:ea typeface="Open Sauce Bold"/>
                <a:cs typeface="Open Sauce Bold"/>
                <a:sym typeface="Open Sauce Bold"/>
              </a:rPr>
              <a:t>表现。</a:t>
            </a:r>
            <a:endParaRPr lang="zh-CN" altLang="en-US" sz="2805" b="1" spc="-28" dirty="0">
              <a:solidFill>
                <a:srgbClr val="1F191A"/>
              </a:solidFill>
              <a:latin typeface="Open Sauce Sans" panose="00000800000000000000" pitchFamily="2" charset="0"/>
              <a:ea typeface="Open Sauce Bold"/>
              <a:cs typeface="Open Sauce Bold"/>
              <a:sym typeface="Open Sauce Bold"/>
            </a:endParaRPr>
          </a:p>
        </p:txBody>
      </p:sp>
      <p:sp>
        <p:nvSpPr>
          <p:cNvPr id="15" name="TextBox 15"/>
          <p:cNvSpPr txBox="1"/>
          <p:nvPr/>
        </p:nvSpPr>
        <p:spPr>
          <a:xfrm>
            <a:off x="11352593" y="2112489"/>
            <a:ext cx="5838681" cy="1582420"/>
          </a:xfrm>
          <a:prstGeom prst="rect">
            <a:avLst/>
          </a:prstGeom>
        </p:spPr>
        <p:txBody>
          <a:bodyPr lIns="0" tIns="0" rIns="0" bIns="0" rtlCol="0" anchor="t">
            <a:spAutoFit/>
          </a:bodyPr>
          <a:lstStyle/>
          <a:p>
            <a:pPr marL="0" lvl="0" indent="0" algn="l">
              <a:lnSpc>
                <a:spcPts val="3085"/>
              </a:lnSpc>
              <a:spcBef>
                <a:spcPct val="0"/>
              </a:spcBef>
            </a:pP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&gt;14</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分）你常觉得</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别人的生活比我精彩</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，总认为自己错过了很多好事</a:t>
            </a:r>
            <a:endPar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endParaRPr>
          </a:p>
          <a:p>
            <a:pPr marL="0" lvl="0" indent="0" algn="l">
              <a:lnSpc>
                <a:spcPts val="3085"/>
              </a:lnSpc>
              <a:spcBef>
                <a:spcPct val="0"/>
              </a:spcBef>
            </a:pP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&lt;10</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分）你比较少和他人比较，能理性看待社交媒体上的</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精彩人生</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endPar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endParaRPr>
          </a:p>
        </p:txBody>
      </p:sp>
      <p:sp>
        <p:nvSpPr>
          <p:cNvPr id="16" name="TextBox 16"/>
          <p:cNvSpPr txBox="1"/>
          <p:nvPr/>
        </p:nvSpPr>
        <p:spPr>
          <a:xfrm>
            <a:off x="11352593" y="1533790"/>
            <a:ext cx="5214658" cy="502920"/>
          </a:xfrm>
          <a:prstGeom prst="rect">
            <a:avLst/>
          </a:prstGeom>
        </p:spPr>
        <p:txBody>
          <a:bodyPr lIns="0" tIns="0" rIns="0" bIns="0" rtlCol="0" anchor="t">
            <a:spAutoFit/>
          </a:bodyPr>
          <a:lstStyle/>
          <a:p>
            <a:pPr marL="0" lvl="0" indent="0" algn="l">
              <a:lnSpc>
                <a:spcPts val="3925"/>
              </a:lnSpc>
              <a:spcBef>
                <a:spcPct val="0"/>
              </a:spcBef>
            </a:pPr>
            <a:r>
              <a:rPr lang="zh-CN" altLang="en-US" sz="2805" b="1" spc="-28" dirty="0">
                <a:solidFill>
                  <a:srgbClr val="1F191A"/>
                </a:solidFill>
                <a:latin typeface="Open Sauce Sans" panose="00000800000000000000" pitchFamily="2" charset="0"/>
                <a:ea typeface="宋体" panose="02010600030101010101" pitchFamily="2" charset="-122"/>
                <a:cs typeface="Open Sauce Bold"/>
                <a:sym typeface="Open Sauce Bold"/>
              </a:rPr>
              <a:t>错失认知</a:t>
            </a:r>
            <a:endParaRPr lang="zh-CN" altLang="en-US" sz="2805" b="1" spc="-28" dirty="0">
              <a:solidFill>
                <a:srgbClr val="1F191A"/>
              </a:solidFill>
              <a:latin typeface="Open Sauce Sans" panose="00000800000000000000" pitchFamily="2" charset="0"/>
              <a:ea typeface="宋体" panose="02010600030101010101" pitchFamily="2" charset="-122"/>
              <a:cs typeface="Open Sauce Bold"/>
              <a:sym typeface="Open Sauce Bold"/>
            </a:endParaRPr>
          </a:p>
        </p:txBody>
      </p:sp>
      <p:sp>
        <p:nvSpPr>
          <p:cNvPr id="17" name="TextBox 17"/>
          <p:cNvSpPr txBox="1"/>
          <p:nvPr/>
        </p:nvSpPr>
        <p:spPr>
          <a:xfrm>
            <a:off x="1905499" y="7342460"/>
            <a:ext cx="5214658" cy="1582420"/>
          </a:xfrm>
          <a:prstGeom prst="rect">
            <a:avLst/>
          </a:prstGeom>
        </p:spPr>
        <p:txBody>
          <a:bodyPr lIns="0" tIns="0" rIns="0" bIns="0" rtlCol="0" anchor="t">
            <a:spAutoFit/>
          </a:bodyPr>
          <a:lstStyle/>
          <a:p>
            <a:pPr marL="0" lvl="0" indent="0" algn="l">
              <a:lnSpc>
                <a:spcPts val="3085"/>
              </a:lnSpc>
              <a:spcBef>
                <a:spcPct val="0"/>
              </a:spcBef>
            </a:pP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&gt;14</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分）很需要归属感，害怕被朋友排除在外。朋友的活动对你来说很重要</a:t>
            </a:r>
            <a:endPar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endParaRPr>
          </a:p>
          <a:p>
            <a:pPr marL="0" lvl="0" indent="0" algn="l">
              <a:lnSpc>
                <a:spcPts val="3085"/>
              </a:lnSpc>
              <a:spcBef>
                <a:spcPct val="0"/>
              </a:spcBef>
            </a:pP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&lt;10</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分）对社交的需求并不强，并不太刻意关注是否时刻被朋友</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圈在内</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endPar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endParaRPr>
          </a:p>
        </p:txBody>
      </p:sp>
      <p:sp>
        <p:nvSpPr>
          <p:cNvPr id="18" name="TextBox 18"/>
          <p:cNvSpPr txBox="1"/>
          <p:nvPr/>
        </p:nvSpPr>
        <p:spPr>
          <a:xfrm>
            <a:off x="1905499" y="6667242"/>
            <a:ext cx="5214658" cy="502920"/>
          </a:xfrm>
          <a:prstGeom prst="rect">
            <a:avLst/>
          </a:prstGeom>
        </p:spPr>
        <p:txBody>
          <a:bodyPr lIns="0" tIns="0" rIns="0" bIns="0" rtlCol="0" anchor="t">
            <a:spAutoFit/>
          </a:bodyPr>
          <a:lstStyle/>
          <a:p>
            <a:pPr marL="0" lvl="0" indent="0" algn="l">
              <a:lnSpc>
                <a:spcPts val="3925"/>
              </a:lnSpc>
              <a:spcBef>
                <a:spcPct val="0"/>
              </a:spcBef>
            </a:pPr>
            <a:r>
              <a:rPr lang="zh-CN" altLang="en-US" sz="2805" b="1" spc="-28" dirty="0">
                <a:solidFill>
                  <a:srgbClr val="1F191A"/>
                </a:solidFill>
                <a:latin typeface="Open Sauce Sans" panose="00000800000000000000" pitchFamily="2" charset="0"/>
                <a:ea typeface="宋体" panose="02010600030101010101" pitchFamily="2" charset="-122"/>
                <a:cs typeface="Open Sauce Bold"/>
                <a:sym typeface="Open Sauce Bold"/>
              </a:rPr>
              <a:t>错失动机</a:t>
            </a:r>
            <a:endParaRPr lang="zh-CN" altLang="en-US" sz="2805" b="1" spc="-28" dirty="0">
              <a:solidFill>
                <a:srgbClr val="1F191A"/>
              </a:solidFill>
              <a:latin typeface="Open Sauce Sans" panose="00000800000000000000" pitchFamily="2" charset="0"/>
              <a:ea typeface="宋体" panose="02010600030101010101" pitchFamily="2" charset="-122"/>
              <a:cs typeface="Open Sauce Bold"/>
              <a:sym typeface="Open Sauce Bold"/>
            </a:endParaRPr>
          </a:p>
        </p:txBody>
      </p:sp>
      <p:sp>
        <p:nvSpPr>
          <p:cNvPr id="19" name="TextBox 19"/>
          <p:cNvSpPr txBox="1"/>
          <p:nvPr/>
        </p:nvSpPr>
        <p:spPr>
          <a:xfrm>
            <a:off x="11352593" y="5027242"/>
            <a:ext cx="5838681" cy="1582420"/>
          </a:xfrm>
          <a:prstGeom prst="rect">
            <a:avLst/>
          </a:prstGeom>
        </p:spPr>
        <p:txBody>
          <a:bodyPr lIns="0" tIns="0" rIns="0" bIns="0" rtlCol="0" anchor="t">
            <a:spAutoFit/>
          </a:bodyPr>
          <a:lstStyle/>
          <a:p>
            <a:pPr marL="0" lvl="0" indent="0" algn="l">
              <a:lnSpc>
                <a:spcPts val="3085"/>
              </a:lnSpc>
              <a:spcBef>
                <a:spcPct val="0"/>
              </a:spcBef>
            </a:pP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&gt;14</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分）看到朋友玩得开心时，你总是容易感到焦虑、忮忌或后悔</a:t>
            </a:r>
            <a:endPar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endParaRPr>
          </a:p>
          <a:p>
            <a:pPr marL="0" lvl="0" indent="0" algn="l">
              <a:lnSpc>
                <a:spcPts val="3085"/>
              </a:lnSpc>
              <a:spcBef>
                <a:spcPct val="0"/>
              </a:spcBef>
            </a:pP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&lt;10</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分）你情绪平稳，看到朋友分享快乐时能真心为</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ta</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们高兴</a:t>
            </a:r>
            <a:endPar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endParaRPr>
          </a:p>
        </p:txBody>
      </p:sp>
      <p:sp>
        <p:nvSpPr>
          <p:cNvPr id="20" name="TextBox 20"/>
          <p:cNvSpPr txBox="1"/>
          <p:nvPr/>
        </p:nvSpPr>
        <p:spPr>
          <a:xfrm>
            <a:off x="11352593" y="4448543"/>
            <a:ext cx="5214658" cy="502920"/>
          </a:xfrm>
          <a:prstGeom prst="rect">
            <a:avLst/>
          </a:prstGeom>
        </p:spPr>
        <p:txBody>
          <a:bodyPr lIns="0" tIns="0" rIns="0" bIns="0" rtlCol="0" anchor="t">
            <a:spAutoFit/>
          </a:bodyPr>
          <a:lstStyle/>
          <a:p>
            <a:pPr marL="0" lvl="0" indent="0" algn="l">
              <a:lnSpc>
                <a:spcPts val="3925"/>
              </a:lnSpc>
              <a:spcBef>
                <a:spcPct val="0"/>
              </a:spcBef>
            </a:pPr>
            <a:r>
              <a:rPr lang="zh-CN" altLang="en-US" sz="2805" b="1" spc="-28" dirty="0">
                <a:solidFill>
                  <a:srgbClr val="1F191A"/>
                </a:solidFill>
                <a:latin typeface="Open Sauce Sans" panose="00000800000000000000" pitchFamily="2" charset="0"/>
                <a:ea typeface="宋体" panose="02010600030101010101" pitchFamily="2" charset="-122"/>
                <a:cs typeface="Open Sauce Bold"/>
                <a:sym typeface="Open Sauce Bold"/>
              </a:rPr>
              <a:t>错失情绪</a:t>
            </a:r>
            <a:endParaRPr lang="zh-CN" altLang="en-US" sz="2805" b="1" spc="-28" dirty="0">
              <a:solidFill>
                <a:srgbClr val="1F191A"/>
              </a:solidFill>
              <a:latin typeface="Open Sauce Sans" panose="00000800000000000000" pitchFamily="2" charset="0"/>
              <a:ea typeface="宋体" panose="02010600030101010101" pitchFamily="2" charset="-122"/>
              <a:cs typeface="Open Sauce Bold"/>
              <a:sym typeface="Open Sauce Bold"/>
            </a:endParaRPr>
          </a:p>
        </p:txBody>
      </p:sp>
      <p:sp>
        <p:nvSpPr>
          <p:cNvPr id="21" name="TextBox 21"/>
          <p:cNvSpPr txBox="1"/>
          <p:nvPr/>
        </p:nvSpPr>
        <p:spPr>
          <a:xfrm>
            <a:off x="11352593" y="8009845"/>
            <a:ext cx="5214658" cy="1582420"/>
          </a:xfrm>
          <a:prstGeom prst="rect">
            <a:avLst/>
          </a:prstGeom>
        </p:spPr>
        <p:txBody>
          <a:bodyPr lIns="0" tIns="0" rIns="0" bIns="0" rtlCol="0" anchor="t">
            <a:spAutoFit/>
          </a:bodyPr>
          <a:lstStyle/>
          <a:p>
            <a:pPr marL="0" lvl="0" indent="0" algn="l">
              <a:lnSpc>
                <a:spcPts val="3085"/>
              </a:lnSpc>
              <a:spcBef>
                <a:spcPct val="0"/>
              </a:spcBef>
            </a:pP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&gt;14</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分）你会频繁查看手机</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社交媒体，即使在忙或者睡前也忍不住</a:t>
            </a:r>
            <a:endPar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endParaRPr>
          </a:p>
          <a:p>
            <a:pPr marL="0" lvl="0" indent="0" algn="l">
              <a:lnSpc>
                <a:spcPts val="3085"/>
              </a:lnSpc>
              <a:spcBef>
                <a:spcPct val="0"/>
              </a:spcBef>
            </a:pP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&lt;10</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分）你能控制查看手机的冲动，不容易被</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怕错过</a:t>
            </a:r>
            <a:r>
              <a:rPr lang="en-US" altLang="zh-CN"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a:t>
            </a:r>
            <a:r>
              <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rPr>
              <a:t>牵着走</a:t>
            </a:r>
            <a:endParaRPr lang="zh-CN" altLang="en-US" sz="2205" spc="-22" dirty="0">
              <a:solidFill>
                <a:srgbClr val="1F191A"/>
              </a:solidFill>
              <a:latin typeface="Open Sauce Sans Light" panose="00000400000000000000" pitchFamily="2" charset="0"/>
              <a:ea typeface="宋体" panose="02010600030101010101" pitchFamily="2" charset="-122"/>
              <a:cs typeface="Open Sauce Light"/>
              <a:sym typeface="Open Sauce Light"/>
            </a:endParaRPr>
          </a:p>
        </p:txBody>
      </p:sp>
      <p:sp>
        <p:nvSpPr>
          <p:cNvPr id="22" name="TextBox 22"/>
          <p:cNvSpPr txBox="1"/>
          <p:nvPr/>
        </p:nvSpPr>
        <p:spPr>
          <a:xfrm>
            <a:off x="11352593" y="7431147"/>
            <a:ext cx="5214658" cy="502920"/>
          </a:xfrm>
          <a:prstGeom prst="rect">
            <a:avLst/>
          </a:prstGeom>
        </p:spPr>
        <p:txBody>
          <a:bodyPr lIns="0" tIns="0" rIns="0" bIns="0" rtlCol="0" anchor="t">
            <a:spAutoFit/>
          </a:bodyPr>
          <a:lstStyle/>
          <a:p>
            <a:pPr marL="0" lvl="0" indent="0" algn="l">
              <a:lnSpc>
                <a:spcPts val="3925"/>
              </a:lnSpc>
              <a:spcBef>
                <a:spcPct val="0"/>
              </a:spcBef>
            </a:pPr>
            <a:r>
              <a:rPr lang="zh-CN" altLang="en-US" sz="2805" b="1" spc="-28" dirty="0">
                <a:solidFill>
                  <a:srgbClr val="1F191A"/>
                </a:solidFill>
                <a:latin typeface="Open Sauce Sans" panose="00000800000000000000" pitchFamily="2" charset="0"/>
                <a:ea typeface="宋体" panose="02010600030101010101" pitchFamily="2" charset="-122"/>
                <a:cs typeface="Open Sauce Bold"/>
                <a:sym typeface="Open Sauce Bold"/>
              </a:rPr>
              <a:t>错失行为</a:t>
            </a:r>
            <a:endParaRPr lang="zh-CN" altLang="en-US" sz="2805" b="1" spc="-28" dirty="0">
              <a:solidFill>
                <a:srgbClr val="1F191A"/>
              </a:solidFill>
              <a:latin typeface="Open Sauce Sans" panose="00000800000000000000" pitchFamily="2" charset="0"/>
              <a:ea typeface="宋体" panose="02010600030101010101" pitchFamily="2" charset="-122"/>
              <a:cs typeface="Open Sauce Bold"/>
              <a:sym typeface="Open Sauce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grpSp>
        <p:nvGrpSpPr>
          <p:cNvPr id="7" name="组合 6"/>
          <p:cNvGrpSpPr/>
          <p:nvPr/>
        </p:nvGrpSpPr>
        <p:grpSpPr>
          <a:xfrm>
            <a:off x="153035" y="2095500"/>
            <a:ext cx="8229600" cy="7456170"/>
            <a:chOff x="241" y="3300"/>
            <a:chExt cx="12960" cy="11742"/>
          </a:xfrm>
        </p:grpSpPr>
        <p:sp>
          <p:nvSpPr>
            <p:cNvPr id="6" name="椭圆 5"/>
            <p:cNvSpPr/>
            <p:nvPr/>
          </p:nvSpPr>
          <p:spPr>
            <a:xfrm>
              <a:off x="3961" y="3300"/>
              <a:ext cx="9240" cy="924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Freeform 5"/>
            <p:cNvSpPr/>
            <p:nvPr/>
          </p:nvSpPr>
          <p:spPr>
            <a:xfrm>
              <a:off x="241" y="4380"/>
              <a:ext cx="10499" cy="10663"/>
            </a:xfrm>
            <a:custGeom>
              <a:avLst/>
              <a:gdLst/>
              <a:ahLst/>
              <a:cxnLst/>
              <a:rect l="l" t="t" r="r" b="b"/>
              <a:pathLst>
                <a:path w="6666868" h="6771258">
                  <a:moveTo>
                    <a:pt x="0" y="0"/>
                  </a:moveTo>
                  <a:lnTo>
                    <a:pt x="6666868" y="0"/>
                  </a:lnTo>
                  <a:lnTo>
                    <a:pt x="6666868" y="6771258"/>
                  </a:lnTo>
                  <a:lnTo>
                    <a:pt x="0" y="6771258"/>
                  </a:lnTo>
                  <a:lnTo>
                    <a:pt x="0" y="0"/>
                  </a:lnTo>
                  <a:close/>
                </a:path>
              </a:pathLst>
            </a:custGeom>
            <a:blipFill>
              <a:blip r:embed="rId1"/>
              <a:stretch>
                <a:fillRect/>
              </a:stretch>
            </a:blipFill>
          </p:spPr>
          <p:txBody>
            <a:bodyPr/>
            <a:lstStyle/>
            <a:p>
              <a:endParaRPr lang="zh-CN" altLang="en-US"/>
            </a:p>
          </p:txBody>
        </p:sp>
      </p:grpSp>
      <p:sp>
        <p:nvSpPr>
          <p:cNvPr id="8" name="TextBox 8"/>
          <p:cNvSpPr txBox="1"/>
          <p:nvPr/>
        </p:nvSpPr>
        <p:spPr>
          <a:xfrm>
            <a:off x="7315835" y="2019300"/>
            <a:ext cx="8935085" cy="3108960"/>
          </a:xfrm>
          <a:prstGeom prst="rect">
            <a:avLst/>
          </a:prstGeom>
        </p:spPr>
        <p:txBody>
          <a:bodyPr lIns="0" tIns="0" rIns="0" bIns="0" rtlCol="0" anchor="t">
            <a:noAutofit/>
          </a:bodyPr>
          <a:lstStyle/>
          <a:p>
            <a:pPr marL="0" lvl="0" indent="0" algn="l">
              <a:lnSpc>
                <a:spcPts val="9945"/>
              </a:lnSpc>
            </a:pPr>
            <a:endParaRPr lang="en-US" sz="11900" b="1" u="none" strike="noStrike" spc="-298" dirty="0">
              <a:solidFill>
                <a:srgbClr val="1F191A"/>
              </a:solidFill>
              <a:latin typeface="新宋体" panose="02010609030101010101" charset="-122"/>
              <a:ea typeface="新宋体" panose="02010609030101010101" charset="-122"/>
              <a:cs typeface="Aileron Bold" panose="00000800000000000000"/>
              <a:sym typeface="Aileron"/>
            </a:endParaRPr>
          </a:p>
          <a:p>
            <a:pPr marL="0" lvl="0" indent="0" algn="l">
              <a:lnSpc>
                <a:spcPts val="9945"/>
              </a:lnSpc>
            </a:pPr>
            <a:r>
              <a:rPr lang="en-US" sz="11900" u="none" strike="noStrike" spc="-298" dirty="0">
                <a:solidFill>
                  <a:srgbClr val="1F191A"/>
                </a:solidFill>
                <a:latin typeface="Aileron Bold" panose="00000800000000000000"/>
                <a:ea typeface="Aileron Bold" panose="00000800000000000000"/>
                <a:cs typeface="Aileron Bold" panose="00000800000000000000"/>
                <a:sym typeface="Aileron"/>
              </a:rPr>
              <a:t>THANK YOU!</a:t>
            </a:r>
            <a:endParaRPr lang="en-US" sz="11900" u="none" strike="noStrike" spc="-298" dirty="0">
              <a:solidFill>
                <a:srgbClr val="1F191A"/>
              </a:solidFill>
              <a:latin typeface="Aileron Bold" panose="00000800000000000000"/>
              <a:ea typeface="Aileron Bold" panose="00000800000000000000"/>
              <a:cs typeface="Aileron Bold" panose="00000800000000000000"/>
              <a:sym typeface="Aileron"/>
            </a:endParaRPr>
          </a:p>
        </p:txBody>
      </p:sp>
      <p:sp>
        <p:nvSpPr>
          <p:cNvPr id="10" name="TextBox 10"/>
          <p:cNvSpPr txBox="1"/>
          <p:nvPr/>
        </p:nvSpPr>
        <p:spPr>
          <a:xfrm>
            <a:off x="12802235" y="6438835"/>
            <a:ext cx="3605127" cy="861695"/>
          </a:xfrm>
          <a:prstGeom prst="rect">
            <a:avLst/>
          </a:prstGeom>
        </p:spPr>
        <p:txBody>
          <a:bodyPr lIns="0" tIns="0" rIns="0" bIns="0" rtlCol="0" anchor="t">
            <a:spAutoFit/>
          </a:bodyPr>
          <a:lstStyle/>
          <a:p>
            <a:pPr marL="0" lvl="0" indent="0" algn="l">
              <a:lnSpc>
                <a:spcPts val="3360"/>
              </a:lnSpc>
              <a:spcBef>
                <a:spcPct val="0"/>
              </a:spcBef>
            </a:pPr>
            <a:r>
              <a:rPr lang="zh-CN" altLang="en-US" sz="2800" b="1" spc="-23" dirty="0">
                <a:solidFill>
                  <a:srgbClr val="1F191A"/>
                </a:solidFill>
                <a:latin typeface="Open Sauce Sans" panose="00000800000000000000" pitchFamily="2" charset="0"/>
                <a:ea typeface="宋体" panose="02010600030101010101" pitchFamily="2" charset="-122"/>
                <a:cs typeface="Open Sauce Bold"/>
                <a:sym typeface="Open Sauce Bold"/>
              </a:rPr>
              <a:t>何宛宸</a:t>
            </a:r>
            <a:r>
              <a:rPr lang="en-US" altLang="zh-CN" sz="2800" b="1" spc="-23" dirty="0">
                <a:solidFill>
                  <a:srgbClr val="1F191A"/>
                </a:solidFill>
                <a:latin typeface="Open Sauce Sans" panose="00000800000000000000" pitchFamily="2" charset="0"/>
                <a:ea typeface="宋体" panose="02010600030101010101" pitchFamily="2" charset="-122"/>
                <a:cs typeface="Open Sauce Bold"/>
                <a:sym typeface="Open Sauce Bold"/>
              </a:rPr>
              <a:t> </a:t>
            </a:r>
            <a:r>
              <a:rPr lang="zh-CN" altLang="en-US" sz="2800" b="1" spc="-23" dirty="0">
                <a:solidFill>
                  <a:srgbClr val="1F191A"/>
                </a:solidFill>
                <a:latin typeface="Open Sauce Sans" panose="00000800000000000000" pitchFamily="2" charset="0"/>
                <a:ea typeface="宋体" panose="02010600030101010101" pitchFamily="2" charset="-122"/>
                <a:cs typeface="Open Sauce Bold"/>
                <a:sym typeface="Open Sauce Bold"/>
              </a:rPr>
              <a:t>吕艾伦</a:t>
            </a:r>
            <a:r>
              <a:rPr lang="en-US" altLang="zh-CN" sz="2800" b="1" spc="-23" dirty="0">
                <a:solidFill>
                  <a:srgbClr val="1F191A"/>
                </a:solidFill>
                <a:latin typeface="Open Sauce Sans" panose="00000800000000000000" pitchFamily="2" charset="0"/>
                <a:ea typeface="宋体" panose="02010600030101010101" pitchFamily="2" charset="-122"/>
                <a:cs typeface="Open Sauce Bold"/>
                <a:sym typeface="Open Sauce Bold"/>
              </a:rPr>
              <a:t> </a:t>
            </a:r>
            <a:r>
              <a:rPr lang="zh-CN" altLang="en-US" sz="2800" b="1" spc="-23" dirty="0">
                <a:solidFill>
                  <a:srgbClr val="1F191A"/>
                </a:solidFill>
                <a:latin typeface="Open Sauce Sans" panose="00000800000000000000" pitchFamily="2" charset="0"/>
                <a:ea typeface="宋体" panose="02010600030101010101" pitchFamily="2" charset="-122"/>
                <a:cs typeface="Open Sauce Bold"/>
                <a:sym typeface="Open Sauce Bold"/>
              </a:rPr>
              <a:t>刘珂杉</a:t>
            </a:r>
            <a:endParaRPr lang="zh-CN" altLang="en-US" sz="2800" b="1" spc="-23" dirty="0">
              <a:solidFill>
                <a:srgbClr val="1F191A"/>
              </a:solidFill>
              <a:latin typeface="Open Sauce Sans" panose="00000800000000000000" pitchFamily="2" charset="0"/>
              <a:ea typeface="宋体" panose="02010600030101010101" pitchFamily="2" charset="-122"/>
              <a:cs typeface="Open Sauce Bold"/>
              <a:sym typeface="Open Sauce Bold"/>
            </a:endParaRPr>
          </a:p>
          <a:p>
            <a:pPr marL="0" lvl="0" indent="0" algn="l">
              <a:lnSpc>
                <a:spcPts val="3360"/>
              </a:lnSpc>
              <a:spcBef>
                <a:spcPct val="0"/>
              </a:spcBef>
            </a:pPr>
            <a:r>
              <a:rPr lang="zh-CN" altLang="en-US" sz="2800" b="1" spc="-23" dirty="0">
                <a:solidFill>
                  <a:srgbClr val="1F191A"/>
                </a:solidFill>
                <a:latin typeface="Open Sauce Sans" panose="00000800000000000000" pitchFamily="2" charset="0"/>
                <a:ea typeface="宋体" panose="02010600030101010101" pitchFamily="2" charset="-122"/>
                <a:cs typeface="Open Sauce Bold"/>
                <a:sym typeface="Open Sauce Bold"/>
              </a:rPr>
              <a:t>心理测量学小组汇报</a:t>
            </a:r>
            <a:endParaRPr lang="zh-CN" altLang="en-US" sz="2800" b="1" spc="-23" dirty="0">
              <a:solidFill>
                <a:srgbClr val="1F191A"/>
              </a:solidFill>
              <a:latin typeface="Open Sauce Sans" panose="00000800000000000000" pitchFamily="2" charset="0"/>
              <a:ea typeface="宋体" panose="02010600030101010101" pitchFamily="2" charset="-122"/>
              <a:cs typeface="Open Sauce Bold"/>
              <a:sym typeface="Open Sauce Bold"/>
            </a:endParaRPr>
          </a:p>
        </p:txBody>
      </p:sp>
      <p:sp>
        <p:nvSpPr>
          <p:cNvPr id="9" name="文本框 8"/>
          <p:cNvSpPr txBox="1"/>
          <p:nvPr/>
        </p:nvSpPr>
        <p:spPr>
          <a:xfrm>
            <a:off x="13136245" y="1111250"/>
            <a:ext cx="6096000" cy="368300"/>
          </a:xfrm>
          <a:prstGeom prst="rect">
            <a:avLst/>
          </a:prstGeom>
          <a:noFill/>
        </p:spPr>
        <p:txBody>
          <a:bodyPr wrap="square" rtlCol="0">
            <a:spAutoFit/>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1340</Words>
  <Application>WPS 演示</Application>
  <PresentationFormat>自定义</PresentationFormat>
  <Paragraphs>80</Paragraphs>
  <Slides>8</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8</vt:i4>
      </vt:variant>
    </vt:vector>
  </HeadingPairs>
  <TitlesOfParts>
    <vt:vector size="33" baseType="lpstr">
      <vt:lpstr>Arial</vt:lpstr>
      <vt:lpstr>宋体</vt:lpstr>
      <vt:lpstr>Wingdings</vt:lpstr>
      <vt:lpstr>Aileron Bold</vt:lpstr>
      <vt:lpstr>Aileron Light</vt:lpstr>
      <vt:lpstr>Open Sauce Sans Medium</vt:lpstr>
      <vt:lpstr>Open Sauce Medium</vt:lpstr>
      <vt:lpstr>Segoe Print</vt:lpstr>
      <vt:lpstr>Open Sauce Sans Light</vt:lpstr>
      <vt:lpstr>Open Sauce Light</vt:lpstr>
      <vt:lpstr>Aileron</vt:lpstr>
      <vt:lpstr>Open Sauce Sans</vt:lpstr>
      <vt:lpstr>Open Sauce Bold</vt:lpstr>
      <vt:lpstr>Aileron Bold</vt:lpstr>
      <vt:lpstr>Open Sauce</vt:lpstr>
      <vt:lpstr>Arial</vt:lpstr>
      <vt:lpstr>Calibri</vt:lpstr>
      <vt:lpstr>微软雅黑</vt:lpstr>
      <vt:lpstr>Arial Unicode MS</vt:lpstr>
      <vt:lpstr>Aileron</vt:lpstr>
      <vt:lpstr>Aileron Light</vt:lpstr>
      <vt:lpstr>Open Sauce Bold</vt:lpstr>
      <vt:lpstr>Open Sauce Light</vt:lpstr>
      <vt:lpstr>新宋体</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何宛宸</cp:lastModifiedBy>
  <cp:revision>11</cp:revision>
  <dcterms:created xsi:type="dcterms:W3CDTF">2006-08-16T00:00:00Z</dcterms:created>
  <dcterms:modified xsi:type="dcterms:W3CDTF">2026-04-19T08:59:54Z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C8973944F38545E8817812DAABF092E9_12</vt:lpwstr>
  </property>
</Properties>
</file>